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99"/>
    <p:restoredTop sz="94733"/>
  </p:normalViewPr>
  <p:slideViewPr>
    <p:cSldViewPr snapToGrid="0">
      <p:cViewPr varScale="1">
        <p:scale>
          <a:sx n="68" d="100"/>
          <a:sy n="68" d="100"/>
        </p:scale>
        <p:origin x="208" y="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B586-6854-9596-D92E-23BEEAF67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B3C44-D4D4-10F0-9686-F1001CDFE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A068F-E7BA-B2BD-74A3-6BF2AF72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64ADE-3F8A-9ECC-FE99-2FE173E3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52ED7-59E5-2332-650D-A0C05C97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7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7E63-F4AB-6703-D030-A727889C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D4A1C-9B7D-422D-1545-B2A1FFDB3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88A68-764F-A82C-65CC-D3FBBA78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66266-C4EA-698F-3371-60CA424B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C3FE3-9943-DD80-692F-B44430D2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96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5118-37E9-B40E-44B1-756D3F69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BFEE4-8984-8048-1B40-6BB567E43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8F699-4465-5D6F-20ED-D0888D92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F68E-ED02-65F2-7BA2-FFEE7730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F51C7-602E-78AF-8B86-0DA3E6B5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4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32E2-87FF-DE92-2611-BF5021B7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8FF33-1166-2183-46DC-5E1933AFA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C32E3-6DDC-6F9E-261F-A135C2F5E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99368-C729-6814-7FCA-D193DD65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C769A-8645-F2DD-D0D6-AE985A0B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54CEC-4D18-F164-8570-186E543F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71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4DED3-750A-1BBF-832E-8D926FD7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7384C-A493-25B0-ADA3-A63198AF6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D43A8-F03B-4E24-20B9-3CB5BC9ED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0D57C-A506-9194-6D1E-8548C7380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BC83E-3658-F173-05EF-92FA75A27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3A6BC-E17C-7CA4-C00D-24A0A9C9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B58D5-A147-4133-A888-DA04DA38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FDDB6C-D345-9C52-F28B-1B1E1DE5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3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6CFF-C9A8-4006-92A1-4DC503CB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939A8-88EE-2EFB-20F0-C3673A6C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EF65EA-62AB-DC3B-6491-61B75C73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AF838-9240-6DCB-9A98-D5ED6C69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616C1-EA6B-2A63-9604-D6E1E0A29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EAB99-066A-AE45-0051-A7512AD4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9102-8281-81AA-CE26-4CEE360B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03C8A-4416-3B5D-2A29-7E26148DD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772AC-AA6B-2607-AABA-3949D3FA6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A2386-25B3-C2B7-1AB0-989907045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C22E3-2BD2-2BB3-208E-259AA9E6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E1CDA-9FCA-0611-1310-8D39E44F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1DFC8-9F33-708B-49DA-EBF6FA3A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2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F1155-D4E7-E4B8-78DF-C25799225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D8EB4-6324-CC07-C914-DA0D1A584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C330F-F560-6A27-FED9-E21829115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28188-86F8-0FFF-378D-55ABA78F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44011-3789-19C9-DA89-71981148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94876-7CDE-51B0-C57C-A2E5326C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9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9AA2-2B42-0A4D-D993-BCD633EE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E5058-3D42-B1A8-4C4E-9D6F57F73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D3BFC-008E-9ADE-4319-0EA0DB57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8222C-7982-43E6-7C81-BC8F490B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1318F-F72F-554B-9BFD-D801F9C1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1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4E319-FA3F-877C-04B8-C0596FA29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67DBC-0325-E1B0-77BC-F1AE206D4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440F3-5E1E-B8E4-C12D-6CB08098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8184-A4D4-02C0-BE76-44C8ADAE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619B7-57BA-10FC-BF8C-379B4E1F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0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DE4FF-9990-A9AC-3C2E-29319946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EAA74-63C8-C36A-3183-E2422D21A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B6D4-C9F6-E8F2-201F-4509BC380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10CC0-AF4B-E348-B54D-14F7FDD7263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BF0C8-34C5-5B56-A185-E18BC6E9E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431D-F7A2-7F03-0D80-BB27B4643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8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8A314-C6BC-FD9B-BF78-AC7BC5BD0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Database System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84D86-8E6D-AFB8-22A8-1E56B1FCA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590" y="1687486"/>
            <a:ext cx="3300156" cy="3636818"/>
          </a:xfrm>
        </p:spPr>
        <p:txBody>
          <a:bodyPr anchor="ctr">
            <a:normAutofit/>
          </a:bodyPr>
          <a:lstStyle/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Milestone #4 – Final Presentation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Green Group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Alexander Baldree</a:t>
            </a:r>
            <a:endParaRPr lang="en-US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Jordan Dardar</a:t>
            </a: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Maksymilian Jankowski</a:t>
            </a:r>
          </a:p>
          <a:p>
            <a:pPr algn="l"/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Aftabur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7397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7A61E-4092-35CD-EFE1-F93EA6D1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Group 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5E801-5C70-92A1-62AB-C2761023C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worked as a team to analyze the Outland Adventures case study and design a complete relational database solution. Our goal was to build a system that supports trip scheduling, customer bookings, equipment management, sales/rentals, and reporting; everything needed to help Blythe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Timmerson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Jim Ford make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83091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ssorted items on a floor">
            <a:extLst>
              <a:ext uri="{FF2B5EF4-FFF2-40B4-BE49-F238E27FC236}">
                <a16:creationId xmlns:a16="http://schemas.microsoft.com/office/drawing/2014/main" id="{BF689801-2708-F55A-C538-7AA4E9BD0C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768" b="1096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E9C836-C861-0D65-C85F-47D68890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46F5-F2F1-EF2B-398A-5A6365DCF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is a growing travel-adventure business that provides guided hiking, camping, and international trekking trips.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Employs guides, marketing, inventory staff, and a web developer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trips in Africa, Asia, and Southern Europe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Let's customers book trips and rent or buy equipment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Wants to optimize operations by analyzing booking trends and inventory age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 help answering key business questions: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equipment sales profitable?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any region’s booking demand trending downward?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inventory items older than 5 years?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trip assignments distributed evenly between guides?</a:t>
            </a:r>
          </a:p>
          <a:p>
            <a:pPr lvl="1"/>
            <a:r>
              <a:rPr lang="en-US" sz="1700">
                <a:solidFill>
                  <a:srgbClr val="FFFFFF"/>
                </a:solidFill>
              </a:rPr>
              <a:t>Which equipment items are generating the most order activity (sales + rentals)?</a:t>
            </a:r>
          </a:p>
          <a:p>
            <a:pPr lvl="1"/>
            <a:endParaRPr lang="en-US" sz="17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database is designed to help answer all these questions.</a:t>
            </a:r>
          </a:p>
          <a:p>
            <a:endParaRPr lang="en-US" sz="17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960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32CE1-C162-C4D4-C05A-E5FC18C2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B0C2-F118-C8C8-F85F-FE3F2035A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Our ERD and database were designed around these goals:</a:t>
            </a:r>
          </a:p>
          <a:p>
            <a:r>
              <a:rPr lang="en-US" sz="1700" dirty="0"/>
              <a:t>Track employees and their roles</a:t>
            </a:r>
          </a:p>
          <a:p>
            <a:r>
              <a:rPr lang="en-US" sz="1700" dirty="0"/>
              <a:t>Record customers and their bookings</a:t>
            </a:r>
          </a:p>
          <a:p>
            <a:r>
              <a:rPr lang="en-US" sz="1700" dirty="0"/>
              <a:t>Manage equipment, including age and condition</a:t>
            </a:r>
          </a:p>
          <a:p>
            <a:r>
              <a:rPr lang="en-US" sz="1700" dirty="0"/>
              <a:t>Record both sales and rentals</a:t>
            </a:r>
          </a:p>
          <a:p>
            <a:r>
              <a:rPr lang="en-US" sz="1700" dirty="0"/>
              <a:t>Identify regional trends in trip bookings</a:t>
            </a:r>
          </a:p>
          <a:p>
            <a:r>
              <a:rPr lang="en-US" sz="1700" dirty="0"/>
              <a:t>Support reporting and future expansion</a:t>
            </a:r>
          </a:p>
          <a:p>
            <a:r>
              <a:rPr lang="en-US" sz="1700" dirty="0"/>
              <a:t>Keep the structure normalized, clean, and scalable</a:t>
            </a:r>
          </a:p>
          <a:p>
            <a:endParaRPr lang="en-US" sz="1700" dirty="0"/>
          </a:p>
        </p:txBody>
      </p:sp>
      <p:pic>
        <p:nvPicPr>
          <p:cNvPr id="6" name="Picture 5" descr="Top view of cubes connected with black lines">
            <a:extLst>
              <a:ext uri="{FF2B5EF4-FFF2-40B4-BE49-F238E27FC236}">
                <a16:creationId xmlns:a16="http://schemas.microsoft.com/office/drawing/2014/main" id="{A30AF94A-695F-4D0E-9DAF-1D58FAB4EE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90" r="1166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F03DDE-F299-59DD-E54D-F568B89E3643}"/>
              </a:ext>
            </a:extLst>
          </p:cNvPr>
          <p:cNvSpPr txBox="1"/>
          <p:nvPr/>
        </p:nvSpPr>
        <p:spPr>
          <a:xfrm>
            <a:off x="10580914" y="4096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9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0253-7756-11DD-340F-883A355A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(Entity-Relationship Diagram)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020DD-E113-EE7B-25D3-C3218AB67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16927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Entities Included:</a:t>
            </a:r>
            <a:endParaRPr lang="en-US" dirty="0"/>
          </a:p>
          <a:p>
            <a:r>
              <a:rPr lang="en-US" dirty="0"/>
              <a:t>Employee</a:t>
            </a:r>
          </a:p>
          <a:p>
            <a:r>
              <a:rPr lang="en-US" dirty="0"/>
              <a:t>Region</a:t>
            </a:r>
          </a:p>
          <a:p>
            <a:r>
              <a:rPr lang="en-US" dirty="0"/>
              <a:t>Trip</a:t>
            </a:r>
          </a:p>
          <a:p>
            <a:r>
              <a:rPr lang="en-US" dirty="0"/>
              <a:t>Customer</a:t>
            </a:r>
          </a:p>
          <a:p>
            <a:r>
              <a:rPr lang="en-US" dirty="0"/>
              <a:t>Booking</a:t>
            </a:r>
          </a:p>
          <a:p>
            <a:r>
              <a:rPr lang="en-US" dirty="0"/>
              <a:t>Equipment</a:t>
            </a:r>
          </a:p>
          <a:p>
            <a:r>
              <a:rPr lang="en-US" dirty="0"/>
              <a:t>Equipment_Order</a:t>
            </a:r>
          </a:p>
          <a:p>
            <a:r>
              <a:rPr lang="en-US" dirty="0"/>
              <a:t>Order_Line</a:t>
            </a:r>
          </a:p>
          <a:p>
            <a:pPr marL="0" indent="0">
              <a:buNone/>
            </a:pPr>
            <a:r>
              <a:rPr lang="en-US" b="1" dirty="0"/>
              <a:t>Key Relationships:</a:t>
            </a:r>
            <a:endParaRPr lang="en-US" dirty="0"/>
          </a:p>
          <a:p>
            <a:r>
              <a:rPr lang="en-US" dirty="0"/>
              <a:t>Employees guide trips and manage equipment</a:t>
            </a:r>
          </a:p>
          <a:p>
            <a:r>
              <a:rPr lang="en-US" dirty="0"/>
              <a:t>Customers book trips and place orders</a:t>
            </a:r>
          </a:p>
          <a:p>
            <a:r>
              <a:rPr lang="en-US" dirty="0"/>
              <a:t>Regions contain multiple trips</a:t>
            </a:r>
          </a:p>
          <a:p>
            <a:r>
              <a:rPr lang="en-US" dirty="0"/>
              <a:t>Orders contain multiple line items</a:t>
            </a:r>
          </a:p>
          <a:p>
            <a:endParaRPr lang="en-US" dirty="0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64BA8A18-6DBD-4793-5F20-38A5C3B61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600" y="1489075"/>
            <a:ext cx="70612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3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B203E4-A400-BE3B-EE5C-37491D9E0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We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A1FC7-50C2-86F2-0125-16EA05EFA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900"/>
              <a:t>Each employee has </a:t>
            </a:r>
            <a:r>
              <a:rPr lang="en-US" sz="1900" b="1"/>
              <a:t>one primary role</a:t>
            </a:r>
            <a:r>
              <a:rPr lang="en-US" sz="1900"/>
              <a:t>.</a:t>
            </a:r>
          </a:p>
          <a:p>
            <a:r>
              <a:rPr lang="en-US" sz="1900"/>
              <a:t>Each trip has </a:t>
            </a:r>
            <a:r>
              <a:rPr lang="en-US" sz="1900" b="1"/>
              <a:t>one assigned guide</a:t>
            </a:r>
            <a:r>
              <a:rPr lang="en-US" sz="1900"/>
              <a:t>.</a:t>
            </a:r>
          </a:p>
          <a:p>
            <a:r>
              <a:rPr lang="en-US" sz="1900"/>
              <a:t>Equipment can be rented or sold, but not at once.</a:t>
            </a:r>
          </a:p>
          <a:p>
            <a:r>
              <a:rPr lang="en-US" sz="1900"/>
              <a:t>Inventory age is determined by </a:t>
            </a:r>
            <a:r>
              <a:rPr lang="en-US" sz="1900" b="1"/>
              <a:t>acquired_date</a:t>
            </a:r>
            <a:r>
              <a:rPr lang="en-US" sz="1900"/>
              <a:t>.</a:t>
            </a:r>
          </a:p>
          <a:p>
            <a:r>
              <a:rPr lang="en-US" sz="1900"/>
              <a:t>A customer can book </a:t>
            </a:r>
            <a:r>
              <a:rPr lang="en-US" sz="1900" b="1"/>
              <a:t>multiple trips</a:t>
            </a:r>
            <a:r>
              <a:rPr lang="en-US" sz="1900"/>
              <a:t>.</a:t>
            </a:r>
          </a:p>
          <a:p>
            <a:r>
              <a:rPr lang="en-US" sz="1900"/>
              <a:t>Sales and rentals are stored in the same order table, using order_type.</a:t>
            </a:r>
          </a:p>
          <a:p>
            <a:r>
              <a:rPr lang="en-US" sz="1900"/>
              <a:t>Regions remain fixed (Africa, Asia, Southern Europe), but more can be added.</a:t>
            </a:r>
            <a:br>
              <a:rPr lang="en-US" sz="1900"/>
            </a:br>
            <a:endParaRPr lang="en-US" sz="1900"/>
          </a:p>
        </p:txBody>
      </p:sp>
      <p:pic>
        <p:nvPicPr>
          <p:cNvPr id="5" name="Picture 4" descr="Paper files on the table">
            <a:extLst>
              <a:ext uri="{FF2B5EF4-FFF2-40B4-BE49-F238E27FC236}">
                <a16:creationId xmlns:a16="http://schemas.microsoft.com/office/drawing/2014/main" id="{80F063CE-56C5-B785-F4CD-FF793A338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42" r="2372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4954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F095B-AD4D-305C-EF64-2C9580F9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Report 1: Equipment Older Than 5 Years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B3DD1-3F50-E4B8-D4CB-35C1AC651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200" b="1"/>
              <a:t>Purpose:</a:t>
            </a:r>
            <a:r>
              <a:rPr lang="en-US" sz="1200"/>
              <a:t> Identify aging inventory to support replacement decisions and reduce safety risks.</a:t>
            </a:r>
          </a:p>
          <a:p>
            <a:r>
              <a:rPr lang="en-US" sz="1200" b="1"/>
              <a:t>Business Question Answered:</a:t>
            </a:r>
            <a:br>
              <a:rPr lang="en-US" sz="1200"/>
            </a:br>
            <a:r>
              <a:rPr lang="en-US" sz="1200" i="1"/>
              <a:t>Are there inventory items that are over five years old?</a:t>
            </a:r>
            <a:endParaRPr lang="en-US" sz="1200"/>
          </a:p>
          <a:p>
            <a:r>
              <a:rPr lang="en-US" sz="1200" b="1"/>
              <a:t>Query Result:</a:t>
            </a:r>
          </a:p>
          <a:p>
            <a:pPr marL="0" indent="0">
              <a:buNone/>
            </a:pPr>
            <a:br>
              <a:rPr lang="en-US" sz="1200"/>
            </a:br>
            <a:endParaRPr lang="en-US" sz="120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93B7BB8-C99C-DB05-2359-525AE69D0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510095"/>
            <a:ext cx="10917936" cy="352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7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91389-37FC-636C-8584-2E65EA7E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>
                <a:latin typeface="Times New Roman" panose="02020603050405020304" pitchFamily="18" charset="0"/>
                <a:cs typeface="Times New Roman" panose="02020603050405020304" pitchFamily="18" charset="0"/>
              </a:rPr>
              <a:t>Report 2: Booking Trends by Region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2B7C8-4A2C-8AD4-C471-4E66921B1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b="1"/>
              <a:t>Purpose:</a:t>
            </a:r>
            <a:r>
              <a:rPr lang="en-US" sz="2000"/>
              <a:t> Help determine whether Africa, Asia, or Southern Europe is trending downward.</a:t>
            </a:r>
          </a:p>
          <a:p>
            <a:r>
              <a:rPr lang="en-US" sz="2000" b="1"/>
              <a:t>Business Question Answered:</a:t>
            </a:r>
            <a:br>
              <a:rPr lang="en-US" sz="2000"/>
            </a:br>
            <a:r>
              <a:rPr lang="en-US" sz="2000" i="1"/>
              <a:t>Is any geographic region losing customer interest?</a:t>
            </a:r>
            <a:endParaRPr lang="en-US" sz="2000"/>
          </a:p>
          <a:p>
            <a:r>
              <a:rPr lang="en-US" sz="2000" b="1"/>
              <a:t>Query Result:</a:t>
            </a:r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3FFDAD3-1E6E-4074-2793-47FD8D794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09143"/>
            <a:ext cx="6903720" cy="503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9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866BD-B33E-70A0-CACE-BC457E88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5000">
                <a:latin typeface="Times New Roman" panose="02020603050405020304" pitchFamily="18" charset="0"/>
                <a:cs typeface="Times New Roman" panose="02020603050405020304" pitchFamily="18" charset="0"/>
              </a:rPr>
              <a:t>Report 3: Sales vs Rental Revenue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55A7AE8-9589-9B48-0BB5-42983D4B5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664965"/>
            <a:ext cx="5458968" cy="5528069"/>
          </a:xfrm>
          <a:prstGeom prst="rect">
            <a:avLst/>
          </a:prstGeom>
        </p:spPr>
      </p:pic>
      <p:sp>
        <p:nvSpPr>
          <p:cNvPr id="31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DD428-B708-4E9B-37E9-F5C81CA57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en-US" sz="2200" b="1"/>
              <a:t>Purpose:</a:t>
            </a:r>
            <a:r>
              <a:rPr lang="en-US" sz="2200"/>
              <a:t> Evaluate whether equipment sales are worth keeping in the business model.</a:t>
            </a:r>
          </a:p>
          <a:p>
            <a:r>
              <a:rPr lang="en-US" sz="2200" b="1"/>
              <a:t>Business Question Answered:</a:t>
            </a:r>
            <a:br>
              <a:rPr lang="en-US" sz="2200"/>
            </a:br>
            <a:r>
              <a:rPr lang="en-US" sz="2200" i="1"/>
              <a:t>Do enough customers buy equipment to justify selling it?</a:t>
            </a:r>
            <a:endParaRPr lang="en-US" sz="2200"/>
          </a:p>
          <a:p>
            <a:r>
              <a:rPr lang="en-US" sz="2200" b="1"/>
              <a:t>Query Result: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7741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C5FE-97ED-9D34-A76D-538A7A6F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>
                <a:latin typeface="Times New Roman" panose="02020603050405020304" pitchFamily="18" charset="0"/>
                <a:cs typeface="Times New Roman" panose="02020603050405020304" pitchFamily="18" charset="0"/>
              </a:rPr>
              <a:t>Report 4: Guide Assignment Report</a:t>
            </a:r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757B3-6C03-3513-26AB-60D31C09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Report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employs professional guides who lead international treks. Blythe and Jim want to make sure trip assignments are fair and evenly distributed.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Whether workload is balanced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Whether a guide is overloaded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Whether they need to hire additional guides</a:t>
            </a:r>
          </a:p>
          <a:p>
            <a:pPr marL="0" indent="0">
              <a:buNone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 Answered</a:t>
            </a:r>
          </a:p>
          <a:p>
            <a:r>
              <a:rPr lang="en-US" sz="1700" i="1">
                <a:latin typeface="Times New Roman" panose="02020603050405020304" pitchFamily="18" charset="0"/>
                <a:cs typeface="Times New Roman" panose="02020603050405020304" pitchFamily="18" charset="0"/>
              </a:rPr>
              <a:t>Are trip assignments distributed evenly between guides?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/>
          </a:p>
        </p:txBody>
      </p:sp>
      <p:pic>
        <p:nvPicPr>
          <p:cNvPr id="8" name="Picture 7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502F7BFC-E307-1588-6E96-5DC3B47A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705686"/>
            <a:ext cx="5458968" cy="144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1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BB062-A6EB-126E-99B9-03948314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Report 5: 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8C77-6A38-A1FC-FDFC-F52F6F59F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500" b="1"/>
              <a:t>Purpose of the Report</a:t>
            </a:r>
          </a:p>
          <a:p>
            <a:r>
              <a:rPr lang="en-US" sz="1500"/>
              <a:t>Outland Adventures makes money from both sales and rentals of hiking/camping equipment.</a:t>
            </a:r>
          </a:p>
          <a:p>
            <a:r>
              <a:rPr lang="en-US" sz="1500"/>
              <a:t>Which items are ordered most often</a:t>
            </a:r>
          </a:p>
          <a:p>
            <a:r>
              <a:rPr lang="en-US" sz="1500"/>
              <a:t>Whether rentals or sales generate more activity</a:t>
            </a:r>
          </a:p>
          <a:p>
            <a:r>
              <a:rPr lang="en-US" sz="1500"/>
              <a:t>Which inventory items customers prefer</a:t>
            </a:r>
          </a:p>
          <a:p>
            <a:r>
              <a:rPr lang="en-US" sz="1500"/>
              <a:t>This helps decide whether to stock more of certain items or discontinue products that rarely move.</a:t>
            </a:r>
          </a:p>
          <a:p>
            <a:pPr marL="0" indent="0">
              <a:buNone/>
            </a:pPr>
            <a:r>
              <a:rPr lang="en-US" sz="1500" b="1"/>
              <a:t>Business Question Answered</a:t>
            </a:r>
          </a:p>
          <a:p>
            <a:r>
              <a:rPr lang="en-US" sz="1500" i="1"/>
              <a:t>Which equipment items are generating the most order activity (sales + rentals)?</a:t>
            </a:r>
            <a:endParaRPr lang="en-US" sz="1500"/>
          </a:p>
          <a:p>
            <a:endParaRPr lang="en-US" sz="1500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FEF6C77-0182-16AD-4FF9-45170853B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89"/>
          <a:stretch>
            <a:fillRect/>
          </a:stretch>
        </p:blipFill>
        <p:spPr>
          <a:xfrm>
            <a:off x="6093102" y="824484"/>
            <a:ext cx="5515131" cy="53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3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DFB14-A4F7-31CA-FA1D-1AC345E8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These Reports Help the Owners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587D-1AA1-963C-0753-DA0A6A29E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system allows Blythe and Jim to: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Clearly see which regions require more marketing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aging equipment proactively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rental vs sales profitability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experience through better planning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long-term strategic decisions using real data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F35E7B22-F7EA-229B-D2DC-C0B137809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41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8D136-81DF-B9E3-A49A-6F27E4265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D6FD9-9448-DAFD-8B91-0952C60EF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Our database solution provides Outland Adventures with: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complete, normalized data model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bookings, equipment, employees, and orders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 for business decisions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to expand into ecommerce and more regions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believe this system gives the business exactly what it needs to grow efficiently.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53EF28F5-E08F-1B4C-E16B-5CD8CCDC0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25" r="1267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0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7B0DA-E2DD-B0A6-E95B-B409FEE3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C5F56-620D-696C-D713-96EB2B5F2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</a:rPr>
              <a:t>Questions?</a:t>
            </a:r>
            <a:br>
              <a:rPr lang="en-US" sz="1800">
                <a:solidFill>
                  <a:schemeClr val="tx2"/>
                </a:solidFill>
              </a:rPr>
            </a:b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Green Group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Alexander Baldree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Jordan Dardar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Maksymilian Jankowski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Aftabur Rahman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483CA025-2530-4B17-666E-12A088C92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05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756</Words>
  <Application>Microsoft Macintosh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Office Theme</vt:lpstr>
      <vt:lpstr>Outland Adventures Database System</vt:lpstr>
      <vt:lpstr>Group Introduction</vt:lpstr>
      <vt:lpstr>Case Study Overview</vt:lpstr>
      <vt:lpstr>Design Goals</vt:lpstr>
      <vt:lpstr>ERD (Entity-Relationship Diagram)</vt:lpstr>
      <vt:lpstr>Assumptions We Made</vt:lpstr>
      <vt:lpstr>Report 1: Equipment Older Than 5 Years</vt:lpstr>
      <vt:lpstr>Report 2: Booking Trends by Region</vt:lpstr>
      <vt:lpstr>Report 3: Sales vs Rental Revenue</vt:lpstr>
      <vt:lpstr>Report 4: Guide Assignment Report</vt:lpstr>
      <vt:lpstr>Report 5: </vt:lpstr>
      <vt:lpstr>How These Reports Help the Owners</vt:lpstr>
      <vt:lpstr>Project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Baldree</dc:creator>
  <cp:lastModifiedBy>Alexander Baldree</cp:lastModifiedBy>
  <cp:revision>9</cp:revision>
  <dcterms:created xsi:type="dcterms:W3CDTF">2025-12-11T04:17:20Z</dcterms:created>
  <dcterms:modified xsi:type="dcterms:W3CDTF">2025-12-19T22:54:06Z</dcterms:modified>
</cp:coreProperties>
</file>