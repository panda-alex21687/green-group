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994"/>
    <p:restoredTop sz="94714"/>
  </p:normalViewPr>
  <p:slideViewPr>
    <p:cSldViewPr snapToGrid="0">
      <p:cViewPr varScale="1">
        <p:scale>
          <a:sx n="76" d="100"/>
          <a:sy n="76" d="100"/>
        </p:scale>
        <p:origin x="208" y="8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5B586-6854-9596-D92E-23BEEAF676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AB3C44-D4D4-10F0-9686-F1001CDFE5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8A068F-E7BA-B2BD-74A3-6BF2AF720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F64ADE-3F8A-9ECC-FE99-2FE173E30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552ED7-59E5-2332-650D-A0C05C976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2725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67E63-F4AB-6703-D030-A727889CF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8D4A1C-9B7D-422D-1545-B2A1FFDB35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C88A68-764F-A82C-65CC-D3FBBA786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E66266-C4EA-698F-3371-60CA424B1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C3FE3-9943-DD80-692F-B44430D29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7964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955118-37E9-B40E-44B1-756D3F691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FBFEE4-8984-8048-1B40-6BB567E432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58F699-4465-5D6F-20ED-D0888D921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78F68E-ED02-65F2-7BA2-FFEE77305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1F51C7-602E-78AF-8B86-0DA3E6B50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2428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5F32E2-87FF-DE92-2611-BF5021B7C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D8FF33-1166-2183-46DC-5E1933AFAC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4C32E3-6DDC-6F9E-261F-A135C2F5EB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799368-C729-6814-7FCA-D193DD65E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FC769A-8645-F2DD-D0D6-AE985A0BF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854CEC-4D18-F164-8570-186E543FD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8718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4DED3-750A-1BBF-832E-8D926FD717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F7384C-A493-25B0-ADA3-A63198AF69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8D43A8-F03B-4E24-20B9-3CB5BC9EDE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50D57C-A506-9194-6D1E-8548C73805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1BC83E-3658-F173-05EF-92FA75A270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E83A6BC-E17C-7CA4-C00D-24A0A9C92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AB58D5-A147-4133-A888-DA04DA388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FDDB6C-D345-9C52-F28B-1B1E1DE57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1830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C6CFF-C9A8-4006-92A1-4DC503CB0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8939A8-88EE-2EFB-20F0-C3673A6C7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EF65EA-62AB-DC3B-6491-61B75C73E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BAF838-9240-6DCB-9A98-D5ED6C699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771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E616C1-EA6B-2A63-9604-D6E1E0A29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DEAB99-066A-AE45-0051-A7512AD46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119102-8281-81AA-CE26-4CEE360B9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8949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3C8A-4416-3B5D-2A29-7E26148DD0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772AC-AA6B-2607-AABA-3949D3FA63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EA2386-25B3-C2B7-1AB0-989907045D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6C22E3-2BD2-2BB3-208E-259AA9E65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EE1CDA-9FCA-0611-1310-8D39E44F6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A1DFC8-9F33-708B-49DA-EBF6FA3A0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3299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F1155-D4E7-E4B8-78DF-C25799225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AD8EB4-6324-CC07-C914-DA0D1A5843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9C330F-F560-6A27-FED9-E218291153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128188-86F8-0FFF-378D-55ABA78FC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D44011-3789-19C9-DA89-71981148E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B94876-7CDE-51B0-C57C-A2E5326CA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4901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B9AA2-2B42-0A4D-D993-BCD633EEC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3E5058-3D42-B1A8-4C4E-9D6F57F733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2D3BFC-008E-9ADE-4319-0EA0DB577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D8222C-7982-43E6-7C81-BC8F490B1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B1318F-F72F-554B-9BFD-D801F9C1D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2140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DF4E319-FA3F-877C-04B8-C0596FA291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A67DBC-0325-E1B0-77BC-F1AE206D46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0440F3-5E1E-B8E4-C12D-6CB08098F7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B10CC0-AF4B-E348-B54D-14F7FDD72637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F68184-A4D4-02C0-BE76-44C8ADAEE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2619B7-57BA-10FC-BF8C-379B4E1F7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002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7DE4FF-9990-A9AC-3C2E-2931994641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8EAA74-63C8-C36A-3183-E2422D21A3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02B6D4-C9F6-E8F2-201F-4509BC3808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B10CC0-AF4B-E348-B54D-14F7FDD72637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FBF0C8-34C5-5B56-A185-E18BC6E9EA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8431D-F7A2-7F03-0D80-BB27B46430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C3BAD6-2D80-6542-86EB-40A788CBA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3818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E2CC403-21CD-41DF-BAC4-329D7FF03C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78A314-C6BC-FD9B-BF78-AC7BC5BD02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8828" y="1147158"/>
            <a:ext cx="6038470" cy="4713316"/>
          </a:xfrm>
        </p:spPr>
        <p:txBody>
          <a:bodyPr anchor="ctr">
            <a:normAutofit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Outland Adventures Database System</a:t>
            </a: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13AA5FE-3FFC-4725-9ADD-E428544EC6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15431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FA70700-3F72-44D4-8175-FEB2B9B23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093C0F6-5741-4C9D-90FF-A25824BFC5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21B2E1B-E962-432C-ADA1-2934CE3C54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7653717E-6F8C-43E0-9893-C03AE87D18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5BB14B4-EC3F-47C7-9AF3-B0E017B75C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66160" y="391886"/>
            <a:ext cx="402901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084D86-8E6D-AFB8-22A8-1E56B1FCA3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30590" y="1687486"/>
            <a:ext cx="3300156" cy="3636818"/>
          </a:xfrm>
        </p:spPr>
        <p:txBody>
          <a:bodyPr anchor="ctr">
            <a:normAutofit/>
          </a:bodyPr>
          <a:lstStyle/>
          <a:p>
            <a:pPr algn="l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Milestone #4 – Final Presentation</a:t>
            </a:r>
            <a:b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Green Group</a:t>
            </a:r>
            <a:b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Group Members: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Alexander Baldree</a:t>
            </a:r>
            <a:endParaRPr lang="en-US" sz="20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Jordan Dardar</a:t>
            </a:r>
          </a:p>
          <a:p>
            <a:pPr algn="l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Maksymilian Jankowski</a:t>
            </a:r>
          </a:p>
          <a:p>
            <a:pPr algn="l"/>
            <a:r>
              <a:rPr lang="en-US" sz="2000" err="1">
                <a:latin typeface="Times New Roman" panose="02020603050405020304" pitchFamily="18" charset="0"/>
                <a:cs typeface="Times New Roman" panose="02020603050405020304" pitchFamily="18" charset="0"/>
              </a:rPr>
              <a:t>Aftabur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Rahman</a:t>
            </a:r>
          </a:p>
          <a:p>
            <a:pPr algn="l"/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40739732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57A61E-4092-35CD-EFE1-F93EA6D137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Group Introduction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35E801-5C70-92A1-62AB-C2761023C5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worked as a team to analyze the Outland Adventures case study and design a complete relational database solution. Our goal was to build a system that supports trip scheduling, customer bookings, equipment management, sales/rentals, and reporting; everything needed to help Blythe </a:t>
            </a:r>
            <a:r>
              <a:rPr lang="en-US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Timmerson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Jim Ford make better business decisions.</a:t>
            </a:r>
          </a:p>
        </p:txBody>
      </p:sp>
    </p:spTree>
    <p:extLst>
      <p:ext uri="{BB962C8B-B14F-4D97-AF65-F5344CB8AC3E}">
        <p14:creationId xmlns:p14="http://schemas.microsoft.com/office/powerpoint/2010/main" val="1830914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CC7D015-0DD8-420F-A568-AC4FEDC41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595556-C814-4F1F-B0E5-71812F38A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 descr="Assorted items on a floor">
            <a:extLst>
              <a:ext uri="{FF2B5EF4-FFF2-40B4-BE49-F238E27FC236}">
                <a16:creationId xmlns:a16="http://schemas.microsoft.com/office/drawing/2014/main" id="{BF689801-2708-F55A-C538-7AA4E9BD0CB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4768" b="10963"/>
          <a:stretch>
            <a:fillRect/>
          </a:stretch>
        </p:blipFill>
        <p:spPr>
          <a:xfrm>
            <a:off x="-1" y="10"/>
            <a:ext cx="12192001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E9C836-C861-0D65-C85F-47D68890D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9"/>
            <a:ext cx="4155825" cy="5571898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Case Study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546F5-F2F1-EF2B-398A-5A6365DCF2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6552" y="557189"/>
            <a:ext cx="6167246" cy="557189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Outland Adventures is a growing travel-adventure business that provides guided hiking, camping, and international trekking trips.</a:t>
            </a:r>
          </a:p>
          <a:p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Employs guides, marketing, inventory staff, and a web developer</a:t>
            </a:r>
          </a:p>
          <a:p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Runs trips in Africa, Asia, and Southern Europe</a:t>
            </a:r>
          </a:p>
          <a:p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Let's customers book trips and rent or buy equipment</a:t>
            </a:r>
          </a:p>
          <a:p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Wants to optimize operations by analyzing booking trends and inventory age</a:t>
            </a:r>
          </a:p>
          <a:p>
            <a:pPr marL="0" indent="0">
              <a:buNone/>
            </a:pPr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Needs help answering key business questions:</a:t>
            </a:r>
          </a:p>
          <a:p>
            <a:pPr lvl="1"/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Are equipment sales profitable?</a:t>
            </a:r>
          </a:p>
          <a:p>
            <a:pPr lvl="1"/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 any region’s booking demand trending downward?</a:t>
            </a:r>
          </a:p>
          <a:p>
            <a:pPr lvl="1"/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Are inventory items older than 5 years?</a:t>
            </a:r>
          </a:p>
          <a:p>
            <a:pPr lvl="1"/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Are trip assignments distributed evenly between guides?</a:t>
            </a:r>
          </a:p>
          <a:p>
            <a:pPr lvl="1"/>
            <a:r>
              <a:rPr lang="en-US" sz="1700">
                <a:solidFill>
                  <a:srgbClr val="FFFFFF"/>
                </a:solidFill>
              </a:rPr>
              <a:t>Which equipment items are generating the most order activity (sales + rentals)?</a:t>
            </a:r>
          </a:p>
          <a:p>
            <a:pPr lvl="1"/>
            <a:endParaRPr lang="en-US" sz="170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 database is designed to help answer all these questions.</a:t>
            </a:r>
          </a:p>
          <a:p>
            <a:endParaRPr lang="en-US" sz="170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99607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A32CE1-C162-C4D4-C05A-E5FC18C29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4B0C2-F118-C8C8-F85F-FE3F2035A9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700" dirty="0"/>
              <a:t>Our ERD and database were designed around these goals:</a:t>
            </a:r>
          </a:p>
          <a:p>
            <a:r>
              <a:rPr lang="en-US" sz="1700" dirty="0"/>
              <a:t>Track employees and their roles</a:t>
            </a:r>
          </a:p>
          <a:p>
            <a:r>
              <a:rPr lang="en-US" sz="1700" dirty="0"/>
              <a:t>Record customers and their bookings</a:t>
            </a:r>
          </a:p>
          <a:p>
            <a:r>
              <a:rPr lang="en-US" sz="1700" dirty="0"/>
              <a:t>Manage equipment, including age and condition</a:t>
            </a:r>
          </a:p>
          <a:p>
            <a:r>
              <a:rPr lang="en-US" sz="1700" dirty="0"/>
              <a:t>Record both sales and rentals</a:t>
            </a:r>
          </a:p>
          <a:p>
            <a:r>
              <a:rPr lang="en-US" sz="1700" dirty="0"/>
              <a:t>Identify regional trends in trip bookings</a:t>
            </a:r>
          </a:p>
          <a:p>
            <a:r>
              <a:rPr lang="en-US" sz="1700" dirty="0"/>
              <a:t>Support reporting and future expansion</a:t>
            </a:r>
          </a:p>
          <a:p>
            <a:r>
              <a:rPr lang="en-US" sz="1700" dirty="0"/>
              <a:t>Keep the structure normalized, clean, and scalable</a:t>
            </a:r>
          </a:p>
          <a:p>
            <a:endParaRPr lang="en-US" sz="1700" dirty="0"/>
          </a:p>
        </p:txBody>
      </p:sp>
      <p:pic>
        <p:nvPicPr>
          <p:cNvPr id="6" name="Picture 5" descr="Top view of cubes connected with black lines">
            <a:extLst>
              <a:ext uri="{FF2B5EF4-FFF2-40B4-BE49-F238E27FC236}">
                <a16:creationId xmlns:a16="http://schemas.microsoft.com/office/drawing/2014/main" id="{A30AF94A-695F-4D0E-9DAF-1D58FAB4EE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590" r="11668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9F03DDE-F299-59DD-E54D-F568B89E3643}"/>
              </a:ext>
            </a:extLst>
          </p:cNvPr>
          <p:cNvSpPr txBox="1"/>
          <p:nvPr/>
        </p:nvSpPr>
        <p:spPr>
          <a:xfrm>
            <a:off x="10580914" y="409698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2967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A0253-7756-11DD-340F-883A355A0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ERD (Entity-Relationship Diagram)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A020DD-E113-EE7B-25D3-C3218AB676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816927" cy="4351338"/>
          </a:xfrm>
        </p:spPr>
        <p:txBody>
          <a:bodyPr>
            <a:normAutofit fontScale="55000" lnSpcReduction="20000"/>
          </a:bodyPr>
          <a:lstStyle/>
          <a:p>
            <a:r>
              <a:rPr lang="en-US" b="1" dirty="0"/>
              <a:t>Entities Included:</a:t>
            </a:r>
            <a:endParaRPr lang="en-US" dirty="0"/>
          </a:p>
          <a:p>
            <a:r>
              <a:rPr lang="en-US" dirty="0"/>
              <a:t>Employee</a:t>
            </a:r>
          </a:p>
          <a:p>
            <a:r>
              <a:rPr lang="en-US" dirty="0"/>
              <a:t>Region</a:t>
            </a:r>
          </a:p>
          <a:p>
            <a:r>
              <a:rPr lang="en-US" dirty="0"/>
              <a:t>Trip</a:t>
            </a:r>
          </a:p>
          <a:p>
            <a:r>
              <a:rPr lang="en-US" dirty="0"/>
              <a:t>Customer</a:t>
            </a:r>
          </a:p>
          <a:p>
            <a:r>
              <a:rPr lang="en-US" dirty="0"/>
              <a:t>Booking</a:t>
            </a:r>
          </a:p>
          <a:p>
            <a:r>
              <a:rPr lang="en-US" dirty="0"/>
              <a:t>Equipment</a:t>
            </a:r>
          </a:p>
          <a:p>
            <a:r>
              <a:rPr lang="en-US" dirty="0"/>
              <a:t>Equipment_Order</a:t>
            </a:r>
          </a:p>
          <a:p>
            <a:r>
              <a:rPr lang="en-US" dirty="0"/>
              <a:t>Order_Line</a:t>
            </a:r>
          </a:p>
          <a:p>
            <a:r>
              <a:rPr lang="en-US" b="1" dirty="0"/>
              <a:t>Key Relationships:</a:t>
            </a:r>
            <a:endParaRPr lang="en-US" dirty="0"/>
          </a:p>
          <a:p>
            <a:r>
              <a:rPr lang="en-US" dirty="0"/>
              <a:t>Employees guide trips and manage equipment</a:t>
            </a:r>
          </a:p>
          <a:p>
            <a:r>
              <a:rPr lang="en-US" dirty="0"/>
              <a:t>Customers book trips and place orders</a:t>
            </a:r>
          </a:p>
          <a:p>
            <a:r>
              <a:rPr lang="en-US" dirty="0"/>
              <a:t>Regions contain multiple trips</a:t>
            </a:r>
          </a:p>
          <a:p>
            <a:r>
              <a:rPr lang="en-US" dirty="0"/>
              <a:t>Orders contain multiple line items</a:t>
            </a:r>
          </a:p>
          <a:p>
            <a:endParaRPr lang="en-US" dirty="0"/>
          </a:p>
        </p:txBody>
      </p:sp>
      <p:pic>
        <p:nvPicPr>
          <p:cNvPr id="6" name="Picture 5" descr="A diagram of a diagram&#10;&#10;AI-generated content may be incorrect.">
            <a:extLst>
              <a:ext uri="{FF2B5EF4-FFF2-40B4-BE49-F238E27FC236}">
                <a16:creationId xmlns:a16="http://schemas.microsoft.com/office/drawing/2014/main" id="{C66C1911-D5E3-23E8-C70B-84D9AA2DED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2256" y="1383724"/>
            <a:ext cx="6310916" cy="4793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3316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B203E4-A400-BE3B-EE5C-37491D9E0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0" y="762001"/>
            <a:ext cx="5334197" cy="1708242"/>
          </a:xfrm>
        </p:spPr>
        <p:txBody>
          <a:bodyPr anchor="ctr">
            <a:normAutofit/>
          </a:bodyPr>
          <a:lstStyle/>
          <a:p>
            <a:r>
              <a:rPr lang="en-US" sz="4000">
                <a:latin typeface="Times New Roman" panose="02020603050405020304" pitchFamily="18" charset="0"/>
                <a:cs typeface="Times New Roman" panose="02020603050405020304" pitchFamily="18" charset="0"/>
              </a:rPr>
              <a:t>Assumptions We Made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A1FC7-50C2-86F2-0125-16EA05EFA8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0" y="2470244"/>
            <a:ext cx="5334197" cy="3769835"/>
          </a:xfrm>
        </p:spPr>
        <p:txBody>
          <a:bodyPr anchor="ctr">
            <a:normAutofit/>
          </a:bodyPr>
          <a:lstStyle/>
          <a:p>
            <a:r>
              <a:rPr lang="en-US" sz="1900"/>
              <a:t>Each employee has </a:t>
            </a:r>
            <a:r>
              <a:rPr lang="en-US" sz="1900" b="1"/>
              <a:t>one primary role</a:t>
            </a:r>
            <a:r>
              <a:rPr lang="en-US" sz="1900"/>
              <a:t>.</a:t>
            </a:r>
          </a:p>
          <a:p>
            <a:r>
              <a:rPr lang="en-US" sz="1900"/>
              <a:t>Each trip has </a:t>
            </a:r>
            <a:r>
              <a:rPr lang="en-US" sz="1900" b="1"/>
              <a:t>one assigned guide</a:t>
            </a:r>
            <a:r>
              <a:rPr lang="en-US" sz="1900"/>
              <a:t>.</a:t>
            </a:r>
          </a:p>
          <a:p>
            <a:r>
              <a:rPr lang="en-US" sz="1900"/>
              <a:t>Equipment can be rented or sold, but not at once.</a:t>
            </a:r>
          </a:p>
          <a:p>
            <a:r>
              <a:rPr lang="en-US" sz="1900"/>
              <a:t>Inventory age is determined by </a:t>
            </a:r>
            <a:r>
              <a:rPr lang="en-US" sz="1900" b="1"/>
              <a:t>acquired_date</a:t>
            </a:r>
            <a:r>
              <a:rPr lang="en-US" sz="1900"/>
              <a:t>.</a:t>
            </a:r>
          </a:p>
          <a:p>
            <a:r>
              <a:rPr lang="en-US" sz="1900"/>
              <a:t>A customer can book </a:t>
            </a:r>
            <a:r>
              <a:rPr lang="en-US" sz="1900" b="1"/>
              <a:t>multiple trips</a:t>
            </a:r>
            <a:r>
              <a:rPr lang="en-US" sz="1900"/>
              <a:t>.</a:t>
            </a:r>
          </a:p>
          <a:p>
            <a:r>
              <a:rPr lang="en-US" sz="1900"/>
              <a:t>Sales and rentals are stored in the same order table, using order_type.</a:t>
            </a:r>
          </a:p>
          <a:p>
            <a:r>
              <a:rPr lang="en-US" sz="1900"/>
              <a:t>Regions remain fixed (Africa, Asia, Southern Europe), but more can be added.</a:t>
            </a:r>
            <a:br>
              <a:rPr lang="en-US" sz="1900"/>
            </a:br>
            <a:endParaRPr lang="en-US" sz="1900"/>
          </a:p>
        </p:txBody>
      </p:sp>
      <p:pic>
        <p:nvPicPr>
          <p:cNvPr id="5" name="Picture 4" descr="Paper files on the table">
            <a:extLst>
              <a:ext uri="{FF2B5EF4-FFF2-40B4-BE49-F238E27FC236}">
                <a16:creationId xmlns:a16="http://schemas.microsoft.com/office/drawing/2014/main" id="{80F063CE-56C5-B785-F4CD-FF793A338D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242" r="23727" b="-1"/>
          <a:stretch>
            <a:fillRect/>
          </a:stretch>
        </p:blipFill>
        <p:spPr>
          <a:xfrm>
            <a:off x="6857797" y="-10886"/>
            <a:ext cx="5334204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549541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E020063-2385-44AC-BD67-258E1F0B9F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014A0B-5338-4077-AFE9-A90D04D44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AF095B-AD4D-305C-EF64-2C9580F94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576" y="1261423"/>
            <a:ext cx="9829800" cy="1325880"/>
          </a:xfrm>
        </p:spPr>
        <p:txBody>
          <a:bodyPr anchor="b">
            <a:normAutofit/>
          </a:bodyPr>
          <a:lstStyle/>
          <a:p>
            <a:pPr algn="ctr"/>
            <a:r>
              <a:rPr lang="en-US" sz="360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Report 1: Equipment Older Than 5 Years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8127680-150F-4A90-9950-F663925781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1"/>
            <a:ext cx="3362070" cy="2522849"/>
            <a:chOff x="-305" y="-1"/>
            <a:chExt cx="3832880" cy="2876136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088F97A-8362-4967-B664-D748B846E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0F9DEDE-4318-412A-81C5-C8C90F689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9E97DE9-7844-4707-8928-1CD88ADB72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C58954E-44A5-4A0D-97A9-8A2BB43D6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EB3DD1-3F50-E4B8-D4CB-35C1AC651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827419"/>
            <a:ext cx="5126896" cy="3227626"/>
          </a:xfrm>
        </p:spPr>
        <p:txBody>
          <a:bodyPr anchor="ctr">
            <a:normAutofit/>
          </a:bodyPr>
          <a:lstStyle/>
          <a:p>
            <a:r>
              <a:rPr lang="en-US" sz="1800" b="1" dirty="0">
                <a:solidFill>
                  <a:schemeClr val="tx2"/>
                </a:solidFill>
              </a:rPr>
              <a:t>Purpose:</a:t>
            </a:r>
            <a:r>
              <a:rPr lang="en-US" sz="1800" dirty="0">
                <a:solidFill>
                  <a:schemeClr val="tx2"/>
                </a:solidFill>
              </a:rPr>
              <a:t> Identify aging inventory to support replacement decisions and reduce safety risks.</a:t>
            </a:r>
          </a:p>
          <a:p>
            <a:r>
              <a:rPr lang="en-US" sz="1800" b="1" dirty="0">
                <a:solidFill>
                  <a:schemeClr val="tx2"/>
                </a:solidFill>
              </a:rPr>
              <a:t>Business Question Answered:</a:t>
            </a:r>
            <a:br>
              <a:rPr lang="en-US" sz="1800" dirty="0">
                <a:solidFill>
                  <a:schemeClr val="tx2"/>
                </a:solidFill>
              </a:rPr>
            </a:br>
            <a:r>
              <a:rPr lang="en-US" sz="1800" i="1" dirty="0">
                <a:solidFill>
                  <a:schemeClr val="tx2"/>
                </a:solidFill>
              </a:rPr>
              <a:t>Are there inventory items that are over five years old?</a:t>
            </a:r>
            <a:endParaRPr lang="en-US" sz="1800" dirty="0">
              <a:solidFill>
                <a:schemeClr val="tx2"/>
              </a:solidFill>
            </a:endParaRPr>
          </a:p>
          <a:p>
            <a:r>
              <a:rPr lang="en-US" sz="1800" b="1" dirty="0">
                <a:solidFill>
                  <a:schemeClr val="tx2"/>
                </a:solidFill>
              </a:rPr>
              <a:t>Query Result:</a:t>
            </a:r>
          </a:p>
          <a:p>
            <a:pPr marL="0" indent="0">
              <a:buNone/>
            </a:pPr>
            <a:br>
              <a:rPr lang="en-US" sz="1800" dirty="0">
                <a:solidFill>
                  <a:schemeClr val="tx2"/>
                </a:solidFill>
              </a:rPr>
            </a:br>
            <a:endParaRPr lang="en-US" sz="1800" dirty="0">
              <a:solidFill>
                <a:schemeClr val="tx2"/>
              </a:solidFill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66920E5-8640-4C24-A775-864763709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10185732" y="4852038"/>
            <a:ext cx="2151670" cy="1860256"/>
            <a:chOff x="-305" y="-4155"/>
            <a:chExt cx="2514948" cy="2174333"/>
          </a:xfrm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CBA3142-5A82-43CE-87A2-EB14B17A51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AEF5A1C7-9938-4A33-A5A4-2B05353B31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62A936D-E9F6-4A68-82C2-1D1CC7772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C68A9229-BBBE-4934-9700-BA72A1BB03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53569AF-4D11-F1C8-3D19-23F557EA2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6" y="3429000"/>
            <a:ext cx="5600207" cy="1404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1731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E020063-2385-44AC-BD67-258E1F0B9F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014A0B-5338-4077-AFE9-A90D04D44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791389-37FC-636C-8584-2E65EA7E9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576" y="1261423"/>
            <a:ext cx="9829800" cy="1325880"/>
          </a:xfrm>
        </p:spPr>
        <p:txBody>
          <a:bodyPr anchor="b">
            <a:normAutofit/>
          </a:bodyPr>
          <a:lstStyle/>
          <a:p>
            <a:pPr algn="ctr"/>
            <a:r>
              <a:rPr lang="en-US" sz="360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Report 2: Booking Trends by Region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8127680-150F-4A90-9950-F663925781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1"/>
            <a:ext cx="3362070" cy="2522849"/>
            <a:chOff x="-305" y="-1"/>
            <a:chExt cx="3832880" cy="2876136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088F97A-8362-4967-B664-D748B846E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0F9DEDE-4318-412A-81C5-C8C90F689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9E97DE9-7844-4707-8928-1CD88ADB72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C58954E-44A5-4A0D-97A9-8A2BB43D6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2B7C8-4A2C-8AD4-C471-4E66921B12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827419"/>
            <a:ext cx="5126896" cy="3227626"/>
          </a:xfrm>
        </p:spPr>
        <p:txBody>
          <a:bodyPr anchor="ctr">
            <a:normAutofit/>
          </a:bodyPr>
          <a:lstStyle/>
          <a:p>
            <a:r>
              <a:rPr lang="en-US" sz="1800" b="1">
                <a:solidFill>
                  <a:schemeClr val="tx2"/>
                </a:solidFill>
              </a:rPr>
              <a:t>Purpose:</a:t>
            </a:r>
            <a:r>
              <a:rPr lang="en-US" sz="1800">
                <a:solidFill>
                  <a:schemeClr val="tx2"/>
                </a:solidFill>
              </a:rPr>
              <a:t> Help determine whether Africa, Asia, or Southern Europe is trending downward.</a:t>
            </a:r>
          </a:p>
          <a:p>
            <a:r>
              <a:rPr lang="en-US" sz="1800" b="1">
                <a:solidFill>
                  <a:schemeClr val="tx2"/>
                </a:solidFill>
              </a:rPr>
              <a:t>Business Question Answered:</a:t>
            </a:r>
            <a:br>
              <a:rPr lang="en-US" sz="1800">
                <a:solidFill>
                  <a:schemeClr val="tx2"/>
                </a:solidFill>
              </a:rPr>
            </a:br>
            <a:r>
              <a:rPr lang="en-US" sz="1800" i="1">
                <a:solidFill>
                  <a:schemeClr val="tx2"/>
                </a:solidFill>
              </a:rPr>
              <a:t>Is any geographic region losing customer interest?</a:t>
            </a:r>
            <a:endParaRPr lang="en-US" sz="1800">
              <a:solidFill>
                <a:schemeClr val="tx2"/>
              </a:solidFill>
            </a:endParaRPr>
          </a:p>
          <a:p>
            <a:r>
              <a:rPr lang="en-US" sz="1800" b="1">
                <a:solidFill>
                  <a:schemeClr val="tx2"/>
                </a:solidFill>
              </a:rPr>
              <a:t>Query Result:</a:t>
            </a:r>
          </a:p>
          <a:p>
            <a:pPr marL="0" indent="0">
              <a:buNone/>
            </a:pPr>
            <a:endParaRPr lang="en-US" sz="1800">
              <a:solidFill>
                <a:schemeClr val="tx2"/>
              </a:solidFill>
            </a:endParaRPr>
          </a:p>
          <a:p>
            <a:endParaRPr lang="en-US" sz="1800">
              <a:solidFill>
                <a:schemeClr val="tx2"/>
              </a:solidFill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66920E5-8640-4C24-A775-864763709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10185732" y="4852038"/>
            <a:ext cx="2151670" cy="1860256"/>
            <a:chOff x="-305" y="-4155"/>
            <a:chExt cx="2514948" cy="2174333"/>
          </a:xfrm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CBA3142-5A82-43CE-87A2-EB14B17A51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AEF5A1C7-9938-4A33-A5A4-2B05353B31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62A936D-E9F6-4A68-82C2-1D1CC7772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C68A9229-BBBE-4934-9700-BA72A1BB03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6" name="Picture 5" descr="A black screen with white text&#10;&#10;AI-generated content may be incorrect.">
            <a:extLst>
              <a:ext uri="{FF2B5EF4-FFF2-40B4-BE49-F238E27FC236}">
                <a16:creationId xmlns:a16="http://schemas.microsoft.com/office/drawing/2014/main" id="{CE39E304-676E-A55D-E360-1BCD9079A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881" y="3350193"/>
            <a:ext cx="5986873" cy="1941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46917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E020063-2385-44AC-BD67-258E1F0B9F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014A0B-5338-4077-AFE9-A90D04D44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1866BD-B33E-70A0-CACE-BC457E88A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576" y="1261423"/>
            <a:ext cx="9829800" cy="1325880"/>
          </a:xfrm>
        </p:spPr>
        <p:txBody>
          <a:bodyPr anchor="b">
            <a:normAutofit/>
          </a:bodyPr>
          <a:lstStyle/>
          <a:p>
            <a:pPr algn="ctr"/>
            <a:r>
              <a:rPr lang="en-US" sz="360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Report 3: Sales vs Rental Revenue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8127680-150F-4A90-9950-F663925781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1"/>
            <a:ext cx="3362070" cy="2522849"/>
            <a:chOff x="-305" y="-1"/>
            <a:chExt cx="3832880" cy="2876136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088F97A-8362-4967-B664-D748B846E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0F9DEDE-4318-412A-81C5-C8C90F689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9E97DE9-7844-4707-8928-1CD88ADB72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C58954E-44A5-4A0D-97A9-8A2BB43D6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DD428-B708-4E9B-37E9-F5C81CA57C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827419"/>
            <a:ext cx="5126896" cy="3227626"/>
          </a:xfrm>
        </p:spPr>
        <p:txBody>
          <a:bodyPr anchor="ctr">
            <a:normAutofit/>
          </a:bodyPr>
          <a:lstStyle/>
          <a:p>
            <a:r>
              <a:rPr lang="en-US" sz="1800" b="1">
                <a:solidFill>
                  <a:schemeClr val="tx2"/>
                </a:solidFill>
              </a:rPr>
              <a:t>Purpose:</a:t>
            </a:r>
            <a:r>
              <a:rPr lang="en-US" sz="1800">
                <a:solidFill>
                  <a:schemeClr val="tx2"/>
                </a:solidFill>
              </a:rPr>
              <a:t> Evaluate whether equipment sales are worth keeping in the business model.</a:t>
            </a:r>
          </a:p>
          <a:p>
            <a:r>
              <a:rPr lang="en-US" sz="1800" b="1">
                <a:solidFill>
                  <a:schemeClr val="tx2"/>
                </a:solidFill>
              </a:rPr>
              <a:t>Business Question Answered:</a:t>
            </a:r>
            <a:br>
              <a:rPr lang="en-US" sz="1800">
                <a:solidFill>
                  <a:schemeClr val="tx2"/>
                </a:solidFill>
              </a:rPr>
            </a:br>
            <a:r>
              <a:rPr lang="en-US" sz="1800" i="1">
                <a:solidFill>
                  <a:schemeClr val="tx2"/>
                </a:solidFill>
              </a:rPr>
              <a:t>Do enough customers buy equipment to justify selling it?</a:t>
            </a:r>
            <a:endParaRPr lang="en-US" sz="1800">
              <a:solidFill>
                <a:schemeClr val="tx2"/>
              </a:solidFill>
            </a:endParaRPr>
          </a:p>
          <a:p>
            <a:r>
              <a:rPr lang="en-US" sz="1800" b="1">
                <a:solidFill>
                  <a:schemeClr val="tx2"/>
                </a:solidFill>
              </a:rPr>
              <a:t>Query Result:</a:t>
            </a:r>
          </a:p>
          <a:p>
            <a:pPr marL="0" indent="0">
              <a:buNone/>
            </a:pPr>
            <a:endParaRPr lang="en-US" sz="1800">
              <a:solidFill>
                <a:schemeClr val="tx2"/>
              </a:solidFill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66920E5-8640-4C24-A775-864763709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10185732" y="4852038"/>
            <a:ext cx="2151670" cy="1860256"/>
            <a:chOff x="-305" y="-4155"/>
            <a:chExt cx="2514948" cy="2174333"/>
          </a:xfrm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CBA3142-5A82-43CE-87A2-EB14B17A51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AEF5A1C7-9938-4A33-A5A4-2B05353B31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62A936D-E9F6-4A68-82C2-1D1CC7772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C68A9229-BBBE-4934-9700-BA72A1BB03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6" name="Picture 5" descr="A screen shot of a computer screen&#10;&#10;AI-generated content may be incorrect.">
            <a:extLst>
              <a:ext uri="{FF2B5EF4-FFF2-40B4-BE49-F238E27FC236}">
                <a16:creationId xmlns:a16="http://schemas.microsoft.com/office/drawing/2014/main" id="{339BBCDB-2CEC-8AC4-33A3-4732024CFA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6381" y="3308839"/>
            <a:ext cx="5270500" cy="175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4150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E020063-2385-44AC-BD67-258E1F0B9F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E014A0B-5338-4077-AFE9-A90D04D44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9AC5FE-97ED-9D34-A76D-538A7A6FA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576" y="1261423"/>
            <a:ext cx="9829800" cy="1325880"/>
          </a:xfrm>
        </p:spPr>
        <p:txBody>
          <a:bodyPr anchor="b">
            <a:normAutofit/>
          </a:bodyPr>
          <a:lstStyle/>
          <a:p>
            <a:pPr algn="ctr"/>
            <a:r>
              <a:rPr lang="en-US" sz="360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Report 4: Guide Assignment Report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8127680-150F-4A90-9950-F663925781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1"/>
            <a:ext cx="3362070" cy="2522849"/>
            <a:chOff x="-305" y="-1"/>
            <a:chExt cx="3832880" cy="2876136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088F97A-8362-4967-B664-D748B846E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0F9DEDE-4318-412A-81C5-C8C90F689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09E97DE9-7844-4707-8928-1CD88ADB72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C58954E-44A5-4A0D-97A9-8A2BB43D6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757B3-6C03-3513-26AB-60D31C0964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827419"/>
            <a:ext cx="5126896" cy="322762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Purpose of the Report</a:t>
            </a:r>
          </a:p>
          <a:p>
            <a:r>
              <a:rPr lang="en-US" sz="17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Outland Adventures employs professional guides who lead international treks. Blythe and Jim want to make sure trip assignments are fair and evenly distributed.</a:t>
            </a:r>
          </a:p>
          <a:p>
            <a:r>
              <a:rPr lang="en-US" sz="17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Whether workload is balanced</a:t>
            </a:r>
          </a:p>
          <a:p>
            <a:r>
              <a:rPr lang="en-US" sz="17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Whether a guide is overloaded</a:t>
            </a:r>
          </a:p>
          <a:p>
            <a:r>
              <a:rPr lang="en-US" sz="17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Whether they need to hire additional guides</a:t>
            </a:r>
          </a:p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Business Question Answered</a:t>
            </a:r>
          </a:p>
          <a:p>
            <a:r>
              <a:rPr lang="en-US" sz="1700" i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Are trip assignments distributed evenly between guides?</a:t>
            </a:r>
            <a:endParaRPr lang="en-US" sz="1700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700" dirty="0">
              <a:solidFill>
                <a:schemeClr val="tx2"/>
              </a:solidFill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66920E5-8640-4C24-A775-864763709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10185732" y="4852038"/>
            <a:ext cx="2151670" cy="1860256"/>
            <a:chOff x="-305" y="-4155"/>
            <a:chExt cx="2514948" cy="2174333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2CBA3142-5A82-43CE-87A2-EB14B17A51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AEF5A1C7-9938-4A33-A5A4-2B05353B31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62A936D-E9F6-4A68-82C2-1D1CC7772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C68A9229-BBBE-4934-9700-BA72A1BB03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5" name="Picture 4" descr="A screen shot of a report&#10;&#10;AI-generated content may be incorrect.">
            <a:extLst>
              <a:ext uri="{FF2B5EF4-FFF2-40B4-BE49-F238E27FC236}">
                <a16:creationId xmlns:a16="http://schemas.microsoft.com/office/drawing/2014/main" id="{6727F3EB-E0F0-8E17-A7B2-AB5163AF5B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848725"/>
            <a:ext cx="5939585" cy="1325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4171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E020063-2385-44AC-BD67-258E1F0B9F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014A0B-5338-4077-AFE9-A90D04D44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ABB062-A6EB-126E-99B9-039483143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576" y="1261423"/>
            <a:ext cx="9829800" cy="1325880"/>
          </a:xfrm>
        </p:spPr>
        <p:txBody>
          <a:bodyPr anchor="b">
            <a:normAutofit/>
          </a:bodyPr>
          <a:lstStyle/>
          <a:p>
            <a:pPr algn="ctr"/>
            <a:r>
              <a:rPr lang="en-US" sz="3600">
                <a:solidFill>
                  <a:schemeClr val="tx2"/>
                </a:solidFill>
              </a:rPr>
              <a:t>Report 5: 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8127680-150F-4A90-9950-F663925781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1"/>
            <a:ext cx="3362070" cy="2522849"/>
            <a:chOff x="-305" y="-1"/>
            <a:chExt cx="3832880" cy="2876136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088F97A-8362-4967-B664-D748B846E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0F9DEDE-4318-412A-81C5-C8C90F689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9E97DE9-7844-4707-8928-1CD88ADB72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C58954E-44A5-4A0D-97A9-8A2BB43D6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EC8C77-6A38-A1FC-FDFC-F52F6F59F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827419"/>
            <a:ext cx="5126896" cy="322762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Purpose of the Report</a:t>
            </a:r>
          </a:p>
          <a:p>
            <a:r>
              <a:rPr lang="en-US" sz="1400" dirty="0">
                <a:solidFill>
                  <a:schemeClr val="tx2"/>
                </a:solidFill>
              </a:rPr>
              <a:t>Outland Adventures makes money from both sales and rentals of hiking/camping equipment.</a:t>
            </a:r>
          </a:p>
          <a:p>
            <a:r>
              <a:rPr lang="en-US" sz="1400" dirty="0">
                <a:solidFill>
                  <a:schemeClr val="tx2"/>
                </a:solidFill>
              </a:rPr>
              <a:t>Which items are ordered most often</a:t>
            </a:r>
          </a:p>
          <a:p>
            <a:r>
              <a:rPr lang="en-US" sz="1400" dirty="0">
                <a:solidFill>
                  <a:schemeClr val="tx2"/>
                </a:solidFill>
              </a:rPr>
              <a:t>Whether rentals or sales generate more activity</a:t>
            </a:r>
          </a:p>
          <a:p>
            <a:r>
              <a:rPr lang="en-US" sz="1400" dirty="0">
                <a:solidFill>
                  <a:schemeClr val="tx2"/>
                </a:solidFill>
              </a:rPr>
              <a:t>Which inventory items customers prefer</a:t>
            </a:r>
          </a:p>
          <a:p>
            <a:r>
              <a:rPr lang="en-US" sz="1400" dirty="0">
                <a:solidFill>
                  <a:schemeClr val="tx2"/>
                </a:solidFill>
              </a:rPr>
              <a:t>This helps decide whether to stock more of certain items or discontinue products that rarely move.</a:t>
            </a:r>
          </a:p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Business Question Answered</a:t>
            </a:r>
          </a:p>
          <a:p>
            <a:r>
              <a:rPr lang="en-US" sz="1400" i="1" dirty="0">
                <a:solidFill>
                  <a:schemeClr val="tx2"/>
                </a:solidFill>
              </a:rPr>
              <a:t>Which equipment items are generating the most order activity (sales + rentals)?</a:t>
            </a:r>
            <a:endParaRPr lang="en-US" sz="1400" dirty="0">
              <a:solidFill>
                <a:schemeClr val="tx2"/>
              </a:solidFill>
            </a:endParaRPr>
          </a:p>
          <a:p>
            <a:endParaRPr lang="en-US" sz="1400" dirty="0">
              <a:solidFill>
                <a:schemeClr val="tx2"/>
              </a:solidFill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66920E5-8640-4C24-A775-864763709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10185732" y="4852038"/>
            <a:ext cx="2151670" cy="1860256"/>
            <a:chOff x="-305" y="-4155"/>
            <a:chExt cx="2514948" cy="2174333"/>
          </a:xfrm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CBA3142-5A82-43CE-87A2-EB14B17A51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AEF5A1C7-9938-4A33-A5A4-2B05353B31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62A936D-E9F6-4A68-82C2-1D1CC7772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C68A9229-BBBE-4934-9700-BA72A1BB03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6" name="Picture 5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ED1C96E0-2917-3ECA-82DF-231480BFAD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5935" y="2897493"/>
            <a:ext cx="4908868" cy="3087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0339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DDBB197-D710-4A4F-A9CA-FD2177498B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5D1CFA-2CDB-4B64-BD9F-85744E8DA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3DFB14-A4F7-31CA-FA1D-1AC345E86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802955"/>
            <a:ext cx="4977976" cy="1454051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How These Reports Help the Owners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81587D-1AA1-963C-0753-DA0A6A29E0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421682"/>
            <a:ext cx="4977578" cy="363928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 system allows Blythe and Jim to:</a:t>
            </a:r>
          </a:p>
          <a:p>
            <a:r>
              <a:rPr lang="en-US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Clearly see which regions require more marketing</a:t>
            </a:r>
          </a:p>
          <a:p>
            <a:r>
              <a:rPr lang="en-US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Replace aging equipment proactively</a:t>
            </a:r>
          </a:p>
          <a:p>
            <a:r>
              <a:rPr lang="en-US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Compare rental vs sales profitability</a:t>
            </a:r>
          </a:p>
          <a:p>
            <a:r>
              <a:rPr lang="en-US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Improve customer experience through better planning</a:t>
            </a:r>
          </a:p>
          <a:p>
            <a:r>
              <a:rPr lang="en-US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Make long-term strategic decisions using real data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5EE5136-01F1-466C-962D-BA9B4C675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369897" y="0"/>
            <a:ext cx="5822103" cy="6685267"/>
            <a:chOff x="6357228" y="0"/>
            <a:chExt cx="5822103" cy="6685267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11D3AD4-AF9B-4EB5-8C7B-C45D173B4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57228" y="0"/>
              <a:ext cx="5822102" cy="6685267"/>
            </a:xfrm>
            <a:custGeom>
              <a:avLst/>
              <a:gdLst>
                <a:gd name="connsiteX0" fmla="*/ 2605444 w 5822102"/>
                <a:gd name="connsiteY0" fmla="*/ 0 h 6685267"/>
                <a:gd name="connsiteX1" fmla="*/ 4757391 w 5822102"/>
                <a:gd name="connsiteY1" fmla="*/ 0 h 6685267"/>
                <a:gd name="connsiteX2" fmla="*/ 4913680 w 5822102"/>
                <a:gd name="connsiteY2" fmla="*/ 56274 h 6685267"/>
                <a:gd name="connsiteX3" fmla="*/ 5376238 w 5822102"/>
                <a:gd name="connsiteY3" fmla="*/ 282027 h 6685267"/>
                <a:gd name="connsiteX4" fmla="*/ 5658024 w 5822102"/>
                <a:gd name="connsiteY4" fmla="*/ 471014 h 6685267"/>
                <a:gd name="connsiteX5" fmla="*/ 5822102 w 5822102"/>
                <a:gd name="connsiteY5" fmla="*/ 609109 h 6685267"/>
                <a:gd name="connsiteX6" fmla="*/ 5822102 w 5822102"/>
                <a:gd name="connsiteY6" fmla="*/ 760697 h 6685267"/>
                <a:gd name="connsiteX7" fmla="*/ 5707785 w 5822102"/>
                <a:gd name="connsiteY7" fmla="*/ 666601 h 6685267"/>
                <a:gd name="connsiteX8" fmla="*/ 5577306 w 5822102"/>
                <a:gd name="connsiteY8" fmla="*/ 571666 h 6685267"/>
                <a:gd name="connsiteX9" fmla="*/ 5298630 w 5822102"/>
                <a:gd name="connsiteY9" fmla="*/ 407449 h 6685267"/>
                <a:gd name="connsiteX10" fmla="*/ 4690768 w 5822102"/>
                <a:gd name="connsiteY10" fmla="*/ 184979 h 6685267"/>
                <a:gd name="connsiteX11" fmla="*/ 4048577 w 5822102"/>
                <a:gd name="connsiteY11" fmla="*/ 99280 h 6685267"/>
                <a:gd name="connsiteX12" fmla="*/ 3405404 w 5822102"/>
                <a:gd name="connsiteY12" fmla="*/ 131937 h 6685267"/>
                <a:gd name="connsiteX13" fmla="*/ 3089702 w 5822102"/>
                <a:gd name="connsiteY13" fmla="*/ 190190 h 6685267"/>
                <a:gd name="connsiteX14" fmla="*/ 2780132 w 5822102"/>
                <a:gd name="connsiteY14" fmla="*/ 273457 h 6685267"/>
                <a:gd name="connsiteX15" fmla="*/ 2478040 w 5822102"/>
                <a:gd name="connsiteY15" fmla="*/ 379654 h 6685267"/>
                <a:gd name="connsiteX16" fmla="*/ 2184897 w 5822102"/>
                <a:gd name="connsiteY16" fmla="*/ 507972 h 6685267"/>
                <a:gd name="connsiteX17" fmla="*/ 1629141 w 5822102"/>
                <a:gd name="connsiteY17" fmla="*/ 823205 h 6685267"/>
                <a:gd name="connsiteX18" fmla="*/ 1497711 w 5822102"/>
                <a:gd name="connsiteY18" fmla="*/ 914000 h 6685267"/>
                <a:gd name="connsiteX19" fmla="*/ 1433099 w 5822102"/>
                <a:gd name="connsiteY19" fmla="*/ 960903 h 6685267"/>
                <a:gd name="connsiteX20" fmla="*/ 1369346 w 5822102"/>
                <a:gd name="connsiteY20" fmla="*/ 1008963 h 6685267"/>
                <a:gd name="connsiteX21" fmla="*/ 1123406 w 5822102"/>
                <a:gd name="connsiteY21" fmla="*/ 1212905 h 6685267"/>
                <a:gd name="connsiteX22" fmla="*/ 684367 w 5822102"/>
                <a:gd name="connsiteY22" fmla="*/ 1675564 h 6685267"/>
                <a:gd name="connsiteX23" fmla="*/ 497153 w 5822102"/>
                <a:gd name="connsiteY23" fmla="*/ 1933588 h 6685267"/>
                <a:gd name="connsiteX24" fmla="*/ 337770 w 5822102"/>
                <a:gd name="connsiteY24" fmla="*/ 2208983 h 6685267"/>
                <a:gd name="connsiteX25" fmla="*/ 302461 w 5822102"/>
                <a:gd name="connsiteY25" fmla="*/ 2280207 h 6685267"/>
                <a:gd name="connsiteX26" fmla="*/ 285296 w 5822102"/>
                <a:gd name="connsiteY26" fmla="*/ 2316107 h 6685267"/>
                <a:gd name="connsiteX27" fmla="*/ 268991 w 5822102"/>
                <a:gd name="connsiteY27" fmla="*/ 2352355 h 6685267"/>
                <a:gd name="connsiteX28" fmla="*/ 237849 w 5822102"/>
                <a:gd name="connsiteY28" fmla="*/ 2425432 h 6685267"/>
                <a:gd name="connsiteX29" fmla="*/ 208670 w 5822102"/>
                <a:gd name="connsiteY29" fmla="*/ 2499319 h 6685267"/>
                <a:gd name="connsiteX30" fmla="*/ 113775 w 5822102"/>
                <a:gd name="connsiteY30" fmla="*/ 2801929 h 6685267"/>
                <a:gd name="connsiteX31" fmla="*/ 36781 w 5822102"/>
                <a:gd name="connsiteY31" fmla="*/ 3428922 h 6685267"/>
                <a:gd name="connsiteX32" fmla="*/ 69148 w 5822102"/>
                <a:gd name="connsiteY32" fmla="*/ 3741955 h 6685267"/>
                <a:gd name="connsiteX33" fmla="*/ 167966 w 5822102"/>
                <a:gd name="connsiteY33" fmla="*/ 4041323 h 6685267"/>
                <a:gd name="connsiteX34" fmla="*/ 202049 w 5822102"/>
                <a:gd name="connsiteY34" fmla="*/ 4112894 h 6685267"/>
                <a:gd name="connsiteX35" fmla="*/ 239933 w 5822102"/>
                <a:gd name="connsiteY35" fmla="*/ 4182843 h 6685267"/>
                <a:gd name="connsiteX36" fmla="*/ 323916 w 5822102"/>
                <a:gd name="connsiteY36" fmla="*/ 4318456 h 6685267"/>
                <a:gd name="connsiteX37" fmla="*/ 416604 w 5822102"/>
                <a:gd name="connsiteY37" fmla="*/ 4449436 h 6685267"/>
                <a:gd name="connsiteX38" fmla="*/ 515911 w 5822102"/>
                <a:gd name="connsiteY38" fmla="*/ 4576711 h 6685267"/>
                <a:gd name="connsiteX39" fmla="*/ 722619 w 5822102"/>
                <a:gd name="connsiteY39" fmla="*/ 4828482 h 6685267"/>
                <a:gd name="connsiteX40" fmla="*/ 825972 w 5822102"/>
                <a:gd name="connsiteY40" fmla="*/ 4956104 h 6685267"/>
                <a:gd name="connsiteX41" fmla="*/ 926506 w 5822102"/>
                <a:gd name="connsiteY41" fmla="*/ 5085347 h 6685267"/>
                <a:gd name="connsiteX42" fmla="*/ 1027040 w 5822102"/>
                <a:gd name="connsiteY42" fmla="*/ 5210191 h 6685267"/>
                <a:gd name="connsiteX43" fmla="*/ 1132110 w 5822102"/>
                <a:gd name="connsiteY43" fmla="*/ 5330748 h 6685267"/>
                <a:gd name="connsiteX44" fmla="*/ 1354880 w 5822102"/>
                <a:gd name="connsiteY44" fmla="*/ 5558083 h 6685267"/>
                <a:gd name="connsiteX45" fmla="*/ 1855220 w 5822102"/>
                <a:gd name="connsiteY45" fmla="*/ 5937591 h 6685267"/>
                <a:gd name="connsiteX46" fmla="*/ 2131810 w 5822102"/>
                <a:gd name="connsiteY46" fmla="*/ 6080268 h 6685267"/>
                <a:gd name="connsiteX47" fmla="*/ 2423726 w 5822102"/>
                <a:gd name="connsiteY47" fmla="*/ 6188087 h 6685267"/>
                <a:gd name="connsiteX48" fmla="*/ 2727780 w 5822102"/>
                <a:gd name="connsiteY48" fmla="*/ 6262552 h 6685267"/>
                <a:gd name="connsiteX49" fmla="*/ 3041276 w 5822102"/>
                <a:gd name="connsiteY49" fmla="*/ 6304245 h 6685267"/>
                <a:gd name="connsiteX50" fmla="*/ 3360532 w 5822102"/>
                <a:gd name="connsiteY50" fmla="*/ 6317331 h 6685267"/>
                <a:gd name="connsiteX51" fmla="*/ 3439855 w 5822102"/>
                <a:gd name="connsiteY51" fmla="*/ 6316751 h 6685267"/>
                <a:gd name="connsiteX52" fmla="*/ 3478721 w 5822102"/>
                <a:gd name="connsiteY52" fmla="*/ 6315826 h 6685267"/>
                <a:gd name="connsiteX53" fmla="*/ 3517463 w 5822102"/>
                <a:gd name="connsiteY53" fmla="*/ 6313971 h 6685267"/>
                <a:gd name="connsiteX54" fmla="*/ 3671452 w 5822102"/>
                <a:gd name="connsiteY54" fmla="*/ 6301233 h 6685267"/>
                <a:gd name="connsiteX55" fmla="*/ 4265460 w 5822102"/>
                <a:gd name="connsiteY55" fmla="*/ 6149638 h 6685267"/>
                <a:gd name="connsiteX56" fmla="*/ 4546587 w 5822102"/>
                <a:gd name="connsiteY56" fmla="*/ 6018079 h 6685267"/>
                <a:gd name="connsiteX57" fmla="*/ 4818030 w 5822102"/>
                <a:gd name="connsiteY57" fmla="*/ 5858029 h 6685267"/>
                <a:gd name="connsiteX58" fmla="*/ 5081870 w 5822102"/>
                <a:gd name="connsiteY58" fmla="*/ 5676903 h 6685267"/>
                <a:gd name="connsiteX59" fmla="*/ 5212073 w 5822102"/>
                <a:gd name="connsiteY59" fmla="*/ 5581013 h 6685267"/>
                <a:gd name="connsiteX60" fmla="*/ 5343625 w 5822102"/>
                <a:gd name="connsiteY60" fmla="*/ 5481533 h 6685267"/>
                <a:gd name="connsiteX61" fmla="*/ 5610378 w 5822102"/>
                <a:gd name="connsiteY61" fmla="*/ 5284425 h 6685267"/>
                <a:gd name="connsiteX62" fmla="*/ 5822102 w 5822102"/>
                <a:gd name="connsiteY62" fmla="*/ 5126414 h 6685267"/>
                <a:gd name="connsiteX63" fmla="*/ 5822102 w 5822102"/>
                <a:gd name="connsiteY63" fmla="*/ 5556641 h 6685267"/>
                <a:gd name="connsiteX64" fmla="*/ 5576325 w 5822102"/>
                <a:gd name="connsiteY64" fmla="*/ 5749979 h 6685267"/>
                <a:gd name="connsiteX65" fmla="*/ 5447715 w 5822102"/>
                <a:gd name="connsiteY65" fmla="*/ 5852818 h 6685267"/>
                <a:gd name="connsiteX66" fmla="*/ 5315059 w 5822102"/>
                <a:gd name="connsiteY66" fmla="*/ 5956236 h 6685267"/>
                <a:gd name="connsiteX67" fmla="*/ 5038468 w 5822102"/>
                <a:gd name="connsiteY67" fmla="*/ 6155776 h 6685267"/>
                <a:gd name="connsiteX68" fmla="*/ 4741892 w 5822102"/>
                <a:gd name="connsiteY68" fmla="*/ 6338292 h 6685267"/>
                <a:gd name="connsiteX69" fmla="*/ 4420920 w 5822102"/>
                <a:gd name="connsiteY69" fmla="*/ 6492203 h 6685267"/>
                <a:gd name="connsiteX70" fmla="*/ 3717672 w 5822102"/>
                <a:gd name="connsiteY70" fmla="*/ 6670434 h 6685267"/>
                <a:gd name="connsiteX71" fmla="*/ 3535853 w 5822102"/>
                <a:gd name="connsiteY71" fmla="*/ 6683289 h 6685267"/>
                <a:gd name="connsiteX72" fmla="*/ 3490367 w 5822102"/>
                <a:gd name="connsiteY72" fmla="*/ 6684910 h 6685267"/>
                <a:gd name="connsiteX73" fmla="*/ 3445005 w 5822102"/>
                <a:gd name="connsiteY73" fmla="*/ 6685142 h 6685267"/>
                <a:gd name="connsiteX74" fmla="*/ 3355872 w 5822102"/>
                <a:gd name="connsiteY74" fmla="*/ 6684100 h 6685267"/>
                <a:gd name="connsiteX75" fmla="*/ 3179203 w 5822102"/>
                <a:gd name="connsiteY75" fmla="*/ 6677150 h 6685267"/>
                <a:gd name="connsiteX76" fmla="*/ 3002410 w 5822102"/>
                <a:gd name="connsiteY76" fmla="*/ 6661169 h 6685267"/>
                <a:gd name="connsiteX77" fmla="*/ 2650296 w 5822102"/>
                <a:gd name="connsiteY77" fmla="*/ 6604191 h 6685267"/>
                <a:gd name="connsiteX78" fmla="*/ 2306028 w 5822102"/>
                <a:gd name="connsiteY78" fmla="*/ 6505869 h 6685267"/>
                <a:gd name="connsiteX79" fmla="*/ 1978803 w 5822102"/>
                <a:gd name="connsiteY79" fmla="*/ 6363307 h 6685267"/>
                <a:gd name="connsiteX80" fmla="*/ 1678428 w 5822102"/>
                <a:gd name="connsiteY80" fmla="*/ 6177779 h 6685267"/>
                <a:gd name="connsiteX81" fmla="*/ 1175880 w 5822102"/>
                <a:gd name="connsiteY81" fmla="*/ 5710373 h 6685267"/>
                <a:gd name="connsiteX82" fmla="*/ 971502 w 5822102"/>
                <a:gd name="connsiteY82" fmla="*/ 5445399 h 6685267"/>
                <a:gd name="connsiteX83" fmla="*/ 790909 w 5822102"/>
                <a:gd name="connsiteY83" fmla="*/ 5169078 h 6685267"/>
                <a:gd name="connsiteX84" fmla="*/ 706680 w 5822102"/>
                <a:gd name="connsiteY84" fmla="*/ 5031959 h 6685267"/>
                <a:gd name="connsiteX85" fmla="*/ 619143 w 5822102"/>
                <a:gd name="connsiteY85" fmla="*/ 4897157 h 6685267"/>
                <a:gd name="connsiteX86" fmla="*/ 436465 w 5822102"/>
                <a:gd name="connsiteY86" fmla="*/ 4628710 h 6685267"/>
                <a:gd name="connsiteX87" fmla="*/ 347088 w 5822102"/>
                <a:gd name="connsiteY87" fmla="*/ 4492171 h 6685267"/>
                <a:gd name="connsiteX88" fmla="*/ 262001 w 5822102"/>
                <a:gd name="connsiteY88" fmla="*/ 4352619 h 6685267"/>
                <a:gd name="connsiteX89" fmla="*/ 118679 w 5822102"/>
                <a:gd name="connsiteY89" fmla="*/ 4059853 h 6685267"/>
                <a:gd name="connsiteX90" fmla="*/ 28322 w 5822102"/>
                <a:gd name="connsiteY90" fmla="*/ 3749136 h 6685267"/>
                <a:gd name="connsiteX91" fmla="*/ 0 w 5822102"/>
                <a:gd name="connsiteY91" fmla="*/ 3428922 h 6685267"/>
                <a:gd name="connsiteX92" fmla="*/ 253052 w 5822102"/>
                <a:gd name="connsiteY92" fmla="*/ 2174356 h 6685267"/>
                <a:gd name="connsiteX93" fmla="*/ 389141 w 5822102"/>
                <a:gd name="connsiteY93" fmla="*/ 1877652 h 6685267"/>
                <a:gd name="connsiteX94" fmla="*/ 552079 w 5822102"/>
                <a:gd name="connsiteY94" fmla="*/ 1591834 h 6685267"/>
                <a:gd name="connsiteX95" fmla="*/ 954950 w 5822102"/>
                <a:gd name="connsiteY95" fmla="*/ 1061773 h 6685267"/>
                <a:gd name="connsiteX96" fmla="*/ 1192922 w 5822102"/>
                <a:gd name="connsiteY96" fmla="*/ 822626 h 6685267"/>
                <a:gd name="connsiteX97" fmla="*/ 1255939 w 5822102"/>
                <a:gd name="connsiteY97" fmla="*/ 765880 h 6685267"/>
                <a:gd name="connsiteX98" fmla="*/ 1320183 w 5822102"/>
                <a:gd name="connsiteY98" fmla="*/ 710291 h 6685267"/>
                <a:gd name="connsiteX99" fmla="*/ 1452961 w 5822102"/>
                <a:gd name="connsiteY99" fmla="*/ 603514 h 6685267"/>
                <a:gd name="connsiteX100" fmla="*/ 2033360 w 5822102"/>
                <a:gd name="connsiteY100" fmla="*/ 235818 h 6685267"/>
                <a:gd name="connsiteX101" fmla="*/ 2512513 w 5822102"/>
                <a:gd name="connsiteY101" fmla="*/ 30012 h 668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5822102" h="6685267">
                  <a:moveTo>
                    <a:pt x="2605444" y="0"/>
                  </a:moveTo>
                  <a:lnTo>
                    <a:pt x="4757391" y="0"/>
                  </a:lnTo>
                  <a:lnTo>
                    <a:pt x="4913680" y="56274"/>
                  </a:lnTo>
                  <a:cubicBezTo>
                    <a:pt x="5074659" y="119278"/>
                    <a:pt x="5229483" y="195083"/>
                    <a:pt x="5376238" y="282027"/>
                  </a:cubicBezTo>
                  <a:cubicBezTo>
                    <a:pt x="5474014" y="340105"/>
                    <a:pt x="5568080" y="403280"/>
                    <a:pt x="5658024" y="471014"/>
                  </a:cubicBezTo>
                  <a:lnTo>
                    <a:pt x="5822102" y="609109"/>
                  </a:lnTo>
                  <a:lnTo>
                    <a:pt x="5822102" y="760697"/>
                  </a:lnTo>
                  <a:lnTo>
                    <a:pt x="5707785" y="666601"/>
                  </a:lnTo>
                  <a:cubicBezTo>
                    <a:pt x="5665273" y="633682"/>
                    <a:pt x="5621749" y="602008"/>
                    <a:pt x="5577306" y="571666"/>
                  </a:cubicBezTo>
                  <a:cubicBezTo>
                    <a:pt x="5487929" y="511562"/>
                    <a:pt x="5395118" y="456089"/>
                    <a:pt x="5298630" y="407449"/>
                  </a:cubicBezTo>
                  <a:cubicBezTo>
                    <a:pt x="5106266" y="309010"/>
                    <a:pt x="4901153" y="235355"/>
                    <a:pt x="4690768" y="184979"/>
                  </a:cubicBezTo>
                  <a:cubicBezTo>
                    <a:pt x="4480382" y="134486"/>
                    <a:pt x="4264724" y="106807"/>
                    <a:pt x="4048577" y="99280"/>
                  </a:cubicBezTo>
                  <a:cubicBezTo>
                    <a:pt x="3832182" y="90709"/>
                    <a:pt x="3617997" y="102290"/>
                    <a:pt x="3405404" y="131937"/>
                  </a:cubicBezTo>
                  <a:cubicBezTo>
                    <a:pt x="3299353" y="147340"/>
                    <a:pt x="3193915" y="166449"/>
                    <a:pt x="3089702" y="190190"/>
                  </a:cubicBezTo>
                  <a:cubicBezTo>
                    <a:pt x="2985491" y="214278"/>
                    <a:pt x="2882137" y="241725"/>
                    <a:pt x="2780132" y="273457"/>
                  </a:cubicBezTo>
                  <a:cubicBezTo>
                    <a:pt x="2678126" y="305073"/>
                    <a:pt x="2577348" y="340510"/>
                    <a:pt x="2478040" y="379654"/>
                  </a:cubicBezTo>
                  <a:cubicBezTo>
                    <a:pt x="2378854" y="418914"/>
                    <a:pt x="2281017" y="461763"/>
                    <a:pt x="2184897" y="507972"/>
                  </a:cubicBezTo>
                  <a:cubicBezTo>
                    <a:pt x="1992657" y="600271"/>
                    <a:pt x="1806791" y="705542"/>
                    <a:pt x="1629141" y="823205"/>
                  </a:cubicBezTo>
                  <a:cubicBezTo>
                    <a:pt x="1584882" y="852736"/>
                    <a:pt x="1540745" y="882731"/>
                    <a:pt x="1497711" y="914000"/>
                  </a:cubicBezTo>
                  <a:cubicBezTo>
                    <a:pt x="1475888" y="929286"/>
                    <a:pt x="1454555" y="945153"/>
                    <a:pt x="1433099" y="960903"/>
                  </a:cubicBezTo>
                  <a:cubicBezTo>
                    <a:pt x="1411521" y="976537"/>
                    <a:pt x="1390311" y="992634"/>
                    <a:pt x="1369346" y="1008963"/>
                  </a:cubicBezTo>
                  <a:cubicBezTo>
                    <a:pt x="1285119" y="1074165"/>
                    <a:pt x="1202730" y="1141797"/>
                    <a:pt x="1123406" y="1212905"/>
                  </a:cubicBezTo>
                  <a:cubicBezTo>
                    <a:pt x="964391" y="1354656"/>
                    <a:pt x="816900" y="1509261"/>
                    <a:pt x="684367" y="1675564"/>
                  </a:cubicBezTo>
                  <a:cubicBezTo>
                    <a:pt x="618161" y="1758716"/>
                    <a:pt x="555512" y="1844763"/>
                    <a:pt x="497153" y="1933588"/>
                  </a:cubicBezTo>
                  <a:cubicBezTo>
                    <a:pt x="439775" y="2022877"/>
                    <a:pt x="385584" y="2114367"/>
                    <a:pt x="337770" y="2208983"/>
                  </a:cubicBezTo>
                  <a:cubicBezTo>
                    <a:pt x="325388" y="2232493"/>
                    <a:pt x="313862" y="2256349"/>
                    <a:pt x="302461" y="2280207"/>
                  </a:cubicBezTo>
                  <a:lnTo>
                    <a:pt x="285296" y="2316107"/>
                  </a:lnTo>
                  <a:lnTo>
                    <a:pt x="268991" y="2352355"/>
                  </a:lnTo>
                  <a:cubicBezTo>
                    <a:pt x="258324" y="2376560"/>
                    <a:pt x="247535" y="2400764"/>
                    <a:pt x="237849" y="2425432"/>
                  </a:cubicBezTo>
                  <a:cubicBezTo>
                    <a:pt x="228163" y="2450099"/>
                    <a:pt x="217498" y="2474419"/>
                    <a:pt x="208670" y="2499319"/>
                  </a:cubicBezTo>
                  <a:cubicBezTo>
                    <a:pt x="170909" y="2598219"/>
                    <a:pt x="138908" y="2699206"/>
                    <a:pt x="113775" y="2801929"/>
                  </a:cubicBezTo>
                  <a:cubicBezTo>
                    <a:pt x="62773" y="3006911"/>
                    <a:pt x="36659" y="3217917"/>
                    <a:pt x="36781" y="3428922"/>
                  </a:cubicBezTo>
                  <a:cubicBezTo>
                    <a:pt x="37394" y="3534078"/>
                    <a:pt x="47816" y="3639001"/>
                    <a:pt x="69148" y="3741955"/>
                  </a:cubicBezTo>
                  <a:cubicBezTo>
                    <a:pt x="91585" y="3844679"/>
                    <a:pt x="124074" y="3945202"/>
                    <a:pt x="167966" y="4041323"/>
                  </a:cubicBezTo>
                  <a:cubicBezTo>
                    <a:pt x="178387" y="4065528"/>
                    <a:pt x="190525" y="4089153"/>
                    <a:pt x="202049" y="4112894"/>
                  </a:cubicBezTo>
                  <a:cubicBezTo>
                    <a:pt x="214555" y="4136288"/>
                    <a:pt x="226447" y="4159912"/>
                    <a:pt x="239933" y="4182843"/>
                  </a:cubicBezTo>
                  <a:cubicBezTo>
                    <a:pt x="265680" y="4229167"/>
                    <a:pt x="294368" y="4274101"/>
                    <a:pt x="323916" y="4318456"/>
                  </a:cubicBezTo>
                  <a:cubicBezTo>
                    <a:pt x="353341" y="4362927"/>
                    <a:pt x="384849" y="4406240"/>
                    <a:pt x="416604" y="4449436"/>
                  </a:cubicBezTo>
                  <a:cubicBezTo>
                    <a:pt x="448847" y="4492286"/>
                    <a:pt x="482319" y="4534557"/>
                    <a:pt x="515911" y="4576711"/>
                  </a:cubicBezTo>
                  <a:cubicBezTo>
                    <a:pt x="583219" y="4661137"/>
                    <a:pt x="653594" y="4743825"/>
                    <a:pt x="722619" y="4828482"/>
                  </a:cubicBezTo>
                  <a:cubicBezTo>
                    <a:pt x="757315" y="4870637"/>
                    <a:pt x="791889" y="4913138"/>
                    <a:pt x="825972" y="4956104"/>
                  </a:cubicBezTo>
                  <a:cubicBezTo>
                    <a:pt x="859934" y="4998722"/>
                    <a:pt x="893649" y="5044004"/>
                    <a:pt x="926506" y="5085347"/>
                  </a:cubicBezTo>
                  <a:cubicBezTo>
                    <a:pt x="959119" y="5127734"/>
                    <a:pt x="993324" y="5168847"/>
                    <a:pt x="1027040" y="5210191"/>
                  </a:cubicBezTo>
                  <a:cubicBezTo>
                    <a:pt x="1061737" y="5250840"/>
                    <a:pt x="1096188" y="5291488"/>
                    <a:pt x="1132110" y="5330748"/>
                  </a:cubicBezTo>
                  <a:cubicBezTo>
                    <a:pt x="1203465" y="5409731"/>
                    <a:pt x="1277639" y="5485818"/>
                    <a:pt x="1354880" y="5558083"/>
                  </a:cubicBezTo>
                  <a:cubicBezTo>
                    <a:pt x="1509603" y="5702266"/>
                    <a:pt x="1676588" y="5830930"/>
                    <a:pt x="1855220" y="5937591"/>
                  </a:cubicBezTo>
                  <a:cubicBezTo>
                    <a:pt x="1944720" y="5990632"/>
                    <a:pt x="2036549" y="6039272"/>
                    <a:pt x="2131810" y="6080268"/>
                  </a:cubicBezTo>
                  <a:cubicBezTo>
                    <a:pt x="2226460" y="6122423"/>
                    <a:pt x="2324173" y="6157977"/>
                    <a:pt x="2423726" y="6188087"/>
                  </a:cubicBezTo>
                  <a:cubicBezTo>
                    <a:pt x="2523280" y="6218313"/>
                    <a:pt x="2624794" y="6242749"/>
                    <a:pt x="2727780" y="6262552"/>
                  </a:cubicBezTo>
                  <a:cubicBezTo>
                    <a:pt x="2830890" y="6282008"/>
                    <a:pt x="2935714" y="6295326"/>
                    <a:pt x="3041276" y="6304245"/>
                  </a:cubicBezTo>
                  <a:cubicBezTo>
                    <a:pt x="3146836" y="6313277"/>
                    <a:pt x="3253499" y="6317215"/>
                    <a:pt x="3360532" y="6317331"/>
                  </a:cubicBezTo>
                  <a:cubicBezTo>
                    <a:pt x="3387259" y="6317331"/>
                    <a:pt x="3414354" y="6317794"/>
                    <a:pt x="3439855" y="6316751"/>
                  </a:cubicBezTo>
                  <a:lnTo>
                    <a:pt x="3478721" y="6315826"/>
                  </a:lnTo>
                  <a:lnTo>
                    <a:pt x="3517463" y="6313971"/>
                  </a:lnTo>
                  <a:cubicBezTo>
                    <a:pt x="3569078" y="6311772"/>
                    <a:pt x="3620449" y="6306907"/>
                    <a:pt x="3671452" y="6301233"/>
                  </a:cubicBezTo>
                  <a:cubicBezTo>
                    <a:pt x="3875707" y="6277608"/>
                    <a:pt x="4074445" y="6225841"/>
                    <a:pt x="4265460" y="6149638"/>
                  </a:cubicBezTo>
                  <a:cubicBezTo>
                    <a:pt x="4361212" y="6111884"/>
                    <a:pt x="4454636" y="6067065"/>
                    <a:pt x="4546587" y="6018079"/>
                  </a:cubicBezTo>
                  <a:cubicBezTo>
                    <a:pt x="4638662" y="5969322"/>
                    <a:pt x="4729020" y="5915240"/>
                    <a:pt x="4818030" y="5858029"/>
                  </a:cubicBezTo>
                  <a:cubicBezTo>
                    <a:pt x="4907038" y="5800703"/>
                    <a:pt x="4994577" y="5739672"/>
                    <a:pt x="5081870" y="5676903"/>
                  </a:cubicBezTo>
                  <a:cubicBezTo>
                    <a:pt x="5125392" y="5645519"/>
                    <a:pt x="5168794" y="5613324"/>
                    <a:pt x="5212073" y="5581013"/>
                  </a:cubicBezTo>
                  <a:lnTo>
                    <a:pt x="5343625" y="5481533"/>
                  </a:lnTo>
                  <a:cubicBezTo>
                    <a:pt x="5432696" y="5414768"/>
                    <a:pt x="5521951" y="5349452"/>
                    <a:pt x="5610378" y="5284425"/>
                  </a:cubicBezTo>
                  <a:lnTo>
                    <a:pt x="5822102" y="5126414"/>
                  </a:lnTo>
                  <a:lnTo>
                    <a:pt x="5822102" y="5556641"/>
                  </a:lnTo>
                  <a:lnTo>
                    <a:pt x="5576325" y="5749979"/>
                  </a:lnTo>
                  <a:lnTo>
                    <a:pt x="5447715" y="5852818"/>
                  </a:lnTo>
                  <a:cubicBezTo>
                    <a:pt x="5403945" y="5887445"/>
                    <a:pt x="5359932" y="5922073"/>
                    <a:pt x="5315059" y="5956236"/>
                  </a:cubicBezTo>
                  <a:cubicBezTo>
                    <a:pt x="5225682" y="6024680"/>
                    <a:pt x="5133976" y="6091734"/>
                    <a:pt x="5038468" y="6155776"/>
                  </a:cubicBezTo>
                  <a:cubicBezTo>
                    <a:pt x="4943084" y="6219703"/>
                    <a:pt x="4845002" y="6281777"/>
                    <a:pt x="4741892" y="6338292"/>
                  </a:cubicBezTo>
                  <a:cubicBezTo>
                    <a:pt x="4638784" y="6394692"/>
                    <a:pt x="4532120" y="6447038"/>
                    <a:pt x="4420920" y="6492203"/>
                  </a:cubicBezTo>
                  <a:cubicBezTo>
                    <a:pt x="4199255" y="6583693"/>
                    <a:pt x="3959813" y="6644840"/>
                    <a:pt x="3717672" y="6670434"/>
                  </a:cubicBezTo>
                  <a:cubicBezTo>
                    <a:pt x="3657106" y="6676456"/>
                    <a:pt x="3596419" y="6681321"/>
                    <a:pt x="3535853" y="6683289"/>
                  </a:cubicBezTo>
                  <a:lnTo>
                    <a:pt x="3490367" y="6684910"/>
                  </a:lnTo>
                  <a:lnTo>
                    <a:pt x="3445005" y="6685142"/>
                  </a:lnTo>
                  <a:cubicBezTo>
                    <a:pt x="3414354" y="6685605"/>
                    <a:pt x="3385297" y="6684679"/>
                    <a:pt x="3355872" y="6684100"/>
                  </a:cubicBezTo>
                  <a:cubicBezTo>
                    <a:pt x="3297146" y="6683405"/>
                    <a:pt x="3238052" y="6680047"/>
                    <a:pt x="3179203" y="6677150"/>
                  </a:cubicBezTo>
                  <a:cubicBezTo>
                    <a:pt x="3120232" y="6672519"/>
                    <a:pt x="3061259" y="6668233"/>
                    <a:pt x="3002410" y="6661169"/>
                  </a:cubicBezTo>
                  <a:cubicBezTo>
                    <a:pt x="2884589" y="6647851"/>
                    <a:pt x="2766891" y="6629669"/>
                    <a:pt x="2650296" y="6604191"/>
                  </a:cubicBezTo>
                  <a:cubicBezTo>
                    <a:pt x="2533702" y="6578713"/>
                    <a:pt x="2418456" y="6545938"/>
                    <a:pt x="2306028" y="6505869"/>
                  </a:cubicBezTo>
                  <a:cubicBezTo>
                    <a:pt x="2193602" y="6465683"/>
                    <a:pt x="2084118" y="6417738"/>
                    <a:pt x="1978803" y="6363307"/>
                  </a:cubicBezTo>
                  <a:cubicBezTo>
                    <a:pt x="1873855" y="6308066"/>
                    <a:pt x="1773077" y="6246340"/>
                    <a:pt x="1678428" y="6177779"/>
                  </a:cubicBezTo>
                  <a:cubicBezTo>
                    <a:pt x="1488393" y="6041356"/>
                    <a:pt x="1321900" y="5881423"/>
                    <a:pt x="1175880" y="5710373"/>
                  </a:cubicBezTo>
                  <a:cubicBezTo>
                    <a:pt x="1103177" y="5624441"/>
                    <a:pt x="1035501" y="5535732"/>
                    <a:pt x="971502" y="5445399"/>
                  </a:cubicBezTo>
                  <a:cubicBezTo>
                    <a:pt x="907380" y="5355069"/>
                    <a:pt x="847550" y="5262768"/>
                    <a:pt x="790909" y="5169078"/>
                  </a:cubicBezTo>
                  <a:cubicBezTo>
                    <a:pt x="761974" y="5121712"/>
                    <a:pt x="735492" y="5077357"/>
                    <a:pt x="706680" y="5031959"/>
                  </a:cubicBezTo>
                  <a:cubicBezTo>
                    <a:pt x="678114" y="4986910"/>
                    <a:pt x="649058" y="4941860"/>
                    <a:pt x="619143" y="4897157"/>
                  </a:cubicBezTo>
                  <a:lnTo>
                    <a:pt x="436465" y="4628710"/>
                  </a:lnTo>
                  <a:cubicBezTo>
                    <a:pt x="406182" y="4583544"/>
                    <a:pt x="376267" y="4538147"/>
                    <a:pt x="347088" y="4492171"/>
                  </a:cubicBezTo>
                  <a:cubicBezTo>
                    <a:pt x="317908" y="4446194"/>
                    <a:pt x="288974" y="4400102"/>
                    <a:pt x="262001" y="4352619"/>
                  </a:cubicBezTo>
                  <a:cubicBezTo>
                    <a:pt x="207934" y="4258119"/>
                    <a:pt x="158280" y="4160840"/>
                    <a:pt x="118679" y="4059853"/>
                  </a:cubicBezTo>
                  <a:cubicBezTo>
                    <a:pt x="78343" y="3959214"/>
                    <a:pt x="48429" y="3854870"/>
                    <a:pt x="28322" y="3749136"/>
                  </a:cubicBezTo>
                  <a:cubicBezTo>
                    <a:pt x="9073" y="3643402"/>
                    <a:pt x="0" y="3536046"/>
                    <a:pt x="0" y="3428922"/>
                  </a:cubicBezTo>
                  <a:cubicBezTo>
                    <a:pt x="1594" y="3001816"/>
                    <a:pt x="89010" y="2575868"/>
                    <a:pt x="253052" y="2174356"/>
                  </a:cubicBezTo>
                  <a:cubicBezTo>
                    <a:pt x="294246" y="2074066"/>
                    <a:pt x="338873" y="1974700"/>
                    <a:pt x="389141" y="1877652"/>
                  </a:cubicBezTo>
                  <a:cubicBezTo>
                    <a:pt x="438672" y="1780256"/>
                    <a:pt x="493230" y="1684945"/>
                    <a:pt x="552079" y="1591834"/>
                  </a:cubicBezTo>
                  <a:cubicBezTo>
                    <a:pt x="669900" y="1405728"/>
                    <a:pt x="804394" y="1227729"/>
                    <a:pt x="954950" y="1061773"/>
                  </a:cubicBezTo>
                  <a:cubicBezTo>
                    <a:pt x="1030597" y="979085"/>
                    <a:pt x="1109552" y="898829"/>
                    <a:pt x="1192922" y="822626"/>
                  </a:cubicBezTo>
                  <a:cubicBezTo>
                    <a:pt x="1213642" y="803402"/>
                    <a:pt x="1234483" y="784409"/>
                    <a:pt x="1255939" y="765880"/>
                  </a:cubicBezTo>
                  <a:cubicBezTo>
                    <a:pt x="1277273" y="747234"/>
                    <a:pt x="1298237" y="728241"/>
                    <a:pt x="1320183" y="710291"/>
                  </a:cubicBezTo>
                  <a:cubicBezTo>
                    <a:pt x="1363585" y="673811"/>
                    <a:pt x="1408088" y="638489"/>
                    <a:pt x="1452961" y="603514"/>
                  </a:cubicBezTo>
                  <a:cubicBezTo>
                    <a:pt x="1633310" y="464543"/>
                    <a:pt x="1828125" y="341437"/>
                    <a:pt x="2033360" y="235818"/>
                  </a:cubicBezTo>
                  <a:cubicBezTo>
                    <a:pt x="2187242" y="156561"/>
                    <a:pt x="2347554" y="87597"/>
                    <a:pt x="2512513" y="3001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5102EBE-A80F-4CFF-B1DD-941EF9728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04998" y="98659"/>
              <a:ext cx="5774333" cy="6315453"/>
            </a:xfrm>
            <a:custGeom>
              <a:avLst/>
              <a:gdLst>
                <a:gd name="connsiteX0" fmla="*/ 3707237 w 5774333"/>
                <a:gd name="connsiteY0" fmla="*/ 1489 h 6315453"/>
                <a:gd name="connsiteX1" fmla="*/ 4037665 w 5774333"/>
                <a:gd name="connsiteY1" fmla="*/ 6121 h 6315453"/>
                <a:gd name="connsiteX2" fmla="*/ 4692239 w 5774333"/>
                <a:gd name="connsiteY2" fmla="*/ 102128 h 6315453"/>
                <a:gd name="connsiteX3" fmla="*/ 5315059 w 5774333"/>
                <a:gd name="connsiteY3" fmla="*/ 324945 h 6315453"/>
                <a:gd name="connsiteX4" fmla="*/ 5738325 w 5774333"/>
                <a:gd name="connsiteY4" fmla="*/ 578286 h 6315453"/>
                <a:gd name="connsiteX5" fmla="*/ 5774333 w 5774333"/>
                <a:gd name="connsiteY5" fmla="*/ 606551 h 6315453"/>
                <a:gd name="connsiteX6" fmla="*/ 5774333 w 5774333"/>
                <a:gd name="connsiteY6" fmla="*/ 975490 h 6315453"/>
                <a:gd name="connsiteX7" fmla="*/ 5676001 w 5774333"/>
                <a:gd name="connsiteY7" fmla="*/ 889749 h 6315453"/>
                <a:gd name="connsiteX8" fmla="*/ 5177132 w 5774333"/>
                <a:gd name="connsiteY8" fmla="*/ 581926 h 6315453"/>
                <a:gd name="connsiteX9" fmla="*/ 4615735 w 5774333"/>
                <a:gd name="connsiteY9" fmla="*/ 388640 h 6315453"/>
                <a:gd name="connsiteX10" fmla="*/ 4020010 w 5774333"/>
                <a:gd name="connsiteY10" fmla="*/ 308500 h 6315453"/>
                <a:gd name="connsiteX11" fmla="*/ 3416315 w 5774333"/>
                <a:gd name="connsiteY11" fmla="*/ 328882 h 6315453"/>
                <a:gd name="connsiteX12" fmla="*/ 2823779 w 5774333"/>
                <a:gd name="connsiteY12" fmla="*/ 446545 h 6315453"/>
                <a:gd name="connsiteX13" fmla="*/ 2256987 w 5774333"/>
                <a:gd name="connsiteY13" fmla="*/ 651296 h 6315453"/>
                <a:gd name="connsiteX14" fmla="*/ 1244169 w 5774333"/>
                <a:gd name="connsiteY14" fmla="*/ 1280374 h 6315453"/>
                <a:gd name="connsiteX15" fmla="*/ 830141 w 5774333"/>
                <a:gd name="connsiteY15" fmla="*/ 1700184 h 6315453"/>
                <a:gd name="connsiteX16" fmla="*/ 502792 w 5774333"/>
                <a:gd name="connsiteY16" fmla="*/ 2182300 h 6315453"/>
                <a:gd name="connsiteX17" fmla="*/ 280637 w 5774333"/>
                <a:gd name="connsiteY17" fmla="*/ 2715256 h 6315453"/>
                <a:gd name="connsiteX18" fmla="*/ 199843 w 5774333"/>
                <a:gd name="connsiteY18" fmla="*/ 3283418 h 6315453"/>
                <a:gd name="connsiteX19" fmla="*/ 233926 w 5774333"/>
                <a:gd name="connsiteY19" fmla="*/ 3561593 h 6315453"/>
                <a:gd name="connsiteX20" fmla="*/ 334582 w 5774333"/>
                <a:gd name="connsiteY20" fmla="*/ 3821816 h 6315453"/>
                <a:gd name="connsiteX21" fmla="*/ 404834 w 5774333"/>
                <a:gd name="connsiteY21" fmla="*/ 3944343 h 6315453"/>
                <a:gd name="connsiteX22" fmla="*/ 485506 w 5774333"/>
                <a:gd name="connsiteY22" fmla="*/ 4062932 h 6315453"/>
                <a:gd name="connsiteX23" fmla="*/ 671861 w 5774333"/>
                <a:gd name="connsiteY23" fmla="*/ 4292120 h 6315453"/>
                <a:gd name="connsiteX24" fmla="*/ 873542 w 5774333"/>
                <a:gd name="connsiteY24" fmla="*/ 4523044 h 6315453"/>
                <a:gd name="connsiteX25" fmla="*/ 973831 w 5774333"/>
                <a:gd name="connsiteY25" fmla="*/ 4643601 h 6315453"/>
                <a:gd name="connsiteX26" fmla="*/ 1022014 w 5774333"/>
                <a:gd name="connsiteY26" fmla="*/ 4702780 h 6315453"/>
                <a:gd name="connsiteX27" fmla="*/ 1069215 w 5774333"/>
                <a:gd name="connsiteY27" fmla="*/ 4759411 h 6315453"/>
                <a:gd name="connsiteX28" fmla="*/ 1474784 w 5774333"/>
                <a:gd name="connsiteY28" fmla="*/ 5177948 h 6315453"/>
                <a:gd name="connsiteX29" fmla="*/ 1690442 w 5774333"/>
                <a:gd name="connsiteY29" fmla="*/ 5366255 h 6315453"/>
                <a:gd name="connsiteX30" fmla="*/ 1916276 w 5774333"/>
                <a:gd name="connsiteY30" fmla="*/ 5539852 h 6315453"/>
                <a:gd name="connsiteX31" fmla="*/ 2420784 w 5774333"/>
                <a:gd name="connsiteY31" fmla="*/ 5814437 h 6315453"/>
                <a:gd name="connsiteX32" fmla="*/ 2703015 w 5774333"/>
                <a:gd name="connsiteY32" fmla="*/ 5892029 h 6315453"/>
                <a:gd name="connsiteX33" fmla="*/ 2775350 w 5774333"/>
                <a:gd name="connsiteY33" fmla="*/ 5905695 h 6315453"/>
                <a:gd name="connsiteX34" fmla="*/ 2848299 w 5774333"/>
                <a:gd name="connsiteY34" fmla="*/ 5917161 h 6315453"/>
                <a:gd name="connsiteX35" fmla="*/ 2995544 w 5774333"/>
                <a:gd name="connsiteY35" fmla="*/ 5933605 h 6315453"/>
                <a:gd name="connsiteX36" fmla="*/ 3069596 w 5774333"/>
                <a:gd name="connsiteY36" fmla="*/ 5938933 h 6315453"/>
                <a:gd name="connsiteX37" fmla="*/ 3143894 w 5774333"/>
                <a:gd name="connsiteY37" fmla="*/ 5942639 h 6315453"/>
                <a:gd name="connsiteX38" fmla="*/ 3218436 w 5774333"/>
                <a:gd name="connsiteY38" fmla="*/ 5944260 h 6315453"/>
                <a:gd name="connsiteX39" fmla="*/ 3293101 w 5774333"/>
                <a:gd name="connsiteY39" fmla="*/ 5943913 h 6315453"/>
                <a:gd name="connsiteX40" fmla="*/ 3330494 w 5774333"/>
                <a:gd name="connsiteY40" fmla="*/ 5943565 h 6315453"/>
                <a:gd name="connsiteX41" fmla="*/ 3366540 w 5774333"/>
                <a:gd name="connsiteY41" fmla="*/ 5942059 h 6315453"/>
                <a:gd name="connsiteX42" fmla="*/ 3402462 w 5774333"/>
                <a:gd name="connsiteY42" fmla="*/ 5940323 h 6315453"/>
                <a:gd name="connsiteX43" fmla="*/ 3438262 w 5774333"/>
                <a:gd name="connsiteY43" fmla="*/ 5937543 h 6315453"/>
                <a:gd name="connsiteX44" fmla="*/ 3580236 w 5774333"/>
                <a:gd name="connsiteY44" fmla="*/ 5920982 h 6315453"/>
                <a:gd name="connsiteX45" fmla="*/ 4121034 w 5774333"/>
                <a:gd name="connsiteY45" fmla="*/ 5753290 h 6315453"/>
                <a:gd name="connsiteX46" fmla="*/ 4620639 w 5774333"/>
                <a:gd name="connsiteY46" fmla="*/ 5459364 h 6315453"/>
                <a:gd name="connsiteX47" fmla="*/ 4741771 w 5774333"/>
                <a:gd name="connsiteY47" fmla="*/ 5372971 h 6315453"/>
                <a:gd name="connsiteX48" fmla="*/ 4862901 w 5774333"/>
                <a:gd name="connsiteY48" fmla="*/ 5283682 h 6315453"/>
                <a:gd name="connsiteX49" fmla="*/ 5108229 w 5774333"/>
                <a:gd name="connsiteY49" fmla="*/ 5098386 h 6315453"/>
                <a:gd name="connsiteX50" fmla="*/ 5612493 w 5774333"/>
                <a:gd name="connsiteY50" fmla="*/ 4739724 h 6315453"/>
                <a:gd name="connsiteX51" fmla="*/ 5774333 w 5774333"/>
                <a:gd name="connsiteY51" fmla="*/ 4623488 h 6315453"/>
                <a:gd name="connsiteX52" fmla="*/ 5774333 w 5774333"/>
                <a:gd name="connsiteY52" fmla="*/ 5232926 h 6315453"/>
                <a:gd name="connsiteX53" fmla="*/ 5676492 w 5774333"/>
                <a:gd name="connsiteY53" fmla="*/ 5306859 h 6315453"/>
                <a:gd name="connsiteX54" fmla="*/ 5426260 w 5774333"/>
                <a:gd name="connsiteY54" fmla="*/ 5486233 h 6315453"/>
                <a:gd name="connsiteX55" fmla="*/ 5300225 w 5774333"/>
                <a:gd name="connsiteY55" fmla="*/ 5576217 h 6315453"/>
                <a:gd name="connsiteX56" fmla="*/ 5170757 w 5774333"/>
                <a:gd name="connsiteY56" fmla="*/ 5666780 h 6315453"/>
                <a:gd name="connsiteX57" fmla="*/ 5038100 w 5774333"/>
                <a:gd name="connsiteY57" fmla="*/ 5756185 h 6315453"/>
                <a:gd name="connsiteX58" fmla="*/ 4901276 w 5774333"/>
                <a:gd name="connsiteY58" fmla="*/ 5843043 h 6315453"/>
                <a:gd name="connsiteX59" fmla="*/ 4614019 w 5774333"/>
                <a:gd name="connsiteY59" fmla="*/ 6006103 h 6315453"/>
                <a:gd name="connsiteX60" fmla="*/ 4305061 w 5774333"/>
                <a:gd name="connsiteY60" fmla="*/ 6144726 h 6315453"/>
                <a:gd name="connsiteX61" fmla="*/ 3632710 w 5774333"/>
                <a:gd name="connsiteY61" fmla="*/ 6304196 h 6315453"/>
                <a:gd name="connsiteX62" fmla="*/ 3459594 w 5774333"/>
                <a:gd name="connsiteY62" fmla="*/ 6314504 h 6315453"/>
                <a:gd name="connsiteX63" fmla="*/ 3416315 w 5774333"/>
                <a:gd name="connsiteY63" fmla="*/ 6315429 h 6315453"/>
                <a:gd name="connsiteX64" fmla="*/ 3373159 w 5774333"/>
                <a:gd name="connsiteY64" fmla="*/ 6315198 h 6315453"/>
                <a:gd name="connsiteX65" fmla="*/ 3330127 w 5774333"/>
                <a:gd name="connsiteY65" fmla="*/ 6314735 h 6315453"/>
                <a:gd name="connsiteX66" fmla="*/ 3288320 w 5774333"/>
                <a:gd name="connsiteY66" fmla="*/ 6313230 h 6315453"/>
                <a:gd name="connsiteX67" fmla="*/ 2954350 w 5774333"/>
                <a:gd name="connsiteY67" fmla="*/ 6288098 h 6315453"/>
                <a:gd name="connsiteX68" fmla="*/ 2622466 w 5774333"/>
                <a:gd name="connsiteY68" fmla="*/ 6232742 h 6315453"/>
                <a:gd name="connsiteX69" fmla="*/ 2296466 w 5774333"/>
                <a:gd name="connsiteY69" fmla="*/ 6146001 h 6315453"/>
                <a:gd name="connsiteX70" fmla="*/ 1672419 w 5774333"/>
                <a:gd name="connsiteY70" fmla="*/ 5885197 h 6315453"/>
                <a:gd name="connsiteX71" fmla="*/ 1146578 w 5774333"/>
                <a:gd name="connsiteY71" fmla="*/ 5479168 h 6315453"/>
                <a:gd name="connsiteX72" fmla="*/ 933372 w 5774333"/>
                <a:gd name="connsiteY72" fmla="*/ 5234810 h 6315453"/>
                <a:gd name="connsiteX73" fmla="*/ 747140 w 5774333"/>
                <a:gd name="connsiteY73" fmla="*/ 4976091 h 6315453"/>
                <a:gd name="connsiteX74" fmla="*/ 703616 w 5774333"/>
                <a:gd name="connsiteY74" fmla="*/ 4910196 h 6315453"/>
                <a:gd name="connsiteX75" fmla="*/ 662053 w 5774333"/>
                <a:gd name="connsiteY75" fmla="*/ 4846269 h 6315453"/>
                <a:gd name="connsiteX76" fmla="*/ 580033 w 5774333"/>
                <a:gd name="connsiteY76" fmla="*/ 4722352 h 6315453"/>
                <a:gd name="connsiteX77" fmla="*/ 410105 w 5774333"/>
                <a:gd name="connsiteY77" fmla="*/ 4469193 h 6315453"/>
                <a:gd name="connsiteX78" fmla="*/ 244224 w 5774333"/>
                <a:gd name="connsiteY78" fmla="*/ 4201556 h 6315453"/>
                <a:gd name="connsiteX79" fmla="*/ 169437 w 5774333"/>
                <a:gd name="connsiteY79" fmla="*/ 4059690 h 6315453"/>
                <a:gd name="connsiteX80" fmla="*/ 105929 w 5774333"/>
                <a:gd name="connsiteY80" fmla="*/ 3911221 h 6315453"/>
                <a:gd name="connsiteX81" fmla="*/ 57256 w 5774333"/>
                <a:gd name="connsiteY81" fmla="*/ 3757195 h 6315453"/>
                <a:gd name="connsiteX82" fmla="*/ 39111 w 5774333"/>
                <a:gd name="connsiteY82" fmla="*/ 3678677 h 6315453"/>
                <a:gd name="connsiteX83" fmla="*/ 31142 w 5774333"/>
                <a:gd name="connsiteY83" fmla="*/ 3639300 h 6315453"/>
                <a:gd name="connsiteX84" fmla="*/ 24521 w 5774333"/>
                <a:gd name="connsiteY84" fmla="*/ 3599809 h 6315453"/>
                <a:gd name="connsiteX85" fmla="*/ 0 w 5774333"/>
                <a:gd name="connsiteY85" fmla="*/ 3283418 h 6315453"/>
                <a:gd name="connsiteX86" fmla="*/ 68045 w 5774333"/>
                <a:gd name="connsiteY86" fmla="*/ 2666963 h 6315453"/>
                <a:gd name="connsiteX87" fmla="*/ 272546 w 5774333"/>
                <a:gd name="connsiteY87" fmla="*/ 2076334 h 6315453"/>
                <a:gd name="connsiteX88" fmla="*/ 1039300 w 5774333"/>
                <a:gd name="connsiteY88" fmla="*/ 1073307 h 6315453"/>
                <a:gd name="connsiteX89" fmla="*/ 1547733 w 5774333"/>
                <a:gd name="connsiteY89" fmla="*/ 680365 h 6315453"/>
                <a:gd name="connsiteX90" fmla="*/ 2115995 w 5774333"/>
                <a:gd name="connsiteY90" fmla="*/ 368373 h 6315453"/>
                <a:gd name="connsiteX91" fmla="*/ 3377451 w 5774333"/>
                <a:gd name="connsiteY91" fmla="*/ 24304 h 6315453"/>
                <a:gd name="connsiteX92" fmla="*/ 3707237 w 5774333"/>
                <a:gd name="connsiteY92" fmla="*/ 1489 h 6315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</a:cxnLst>
              <a:rect l="l" t="t" r="r" b="b"/>
              <a:pathLst>
                <a:path w="5774333" h="6315453">
                  <a:moveTo>
                    <a:pt x="3707237" y="1489"/>
                  </a:moveTo>
                  <a:cubicBezTo>
                    <a:pt x="3817502" y="-1522"/>
                    <a:pt x="3927875" y="41"/>
                    <a:pt x="4037665" y="6121"/>
                  </a:cubicBezTo>
                  <a:cubicBezTo>
                    <a:pt x="4257614" y="18745"/>
                    <a:pt x="4477439" y="49665"/>
                    <a:pt x="4692239" y="102128"/>
                  </a:cubicBezTo>
                  <a:cubicBezTo>
                    <a:pt x="4907039" y="154474"/>
                    <a:pt x="5116811" y="228592"/>
                    <a:pt x="5315059" y="324945"/>
                  </a:cubicBezTo>
                  <a:cubicBezTo>
                    <a:pt x="5463562" y="397211"/>
                    <a:pt x="5606133" y="481527"/>
                    <a:pt x="5738325" y="578286"/>
                  </a:cubicBezTo>
                  <a:lnTo>
                    <a:pt x="5774333" y="606551"/>
                  </a:lnTo>
                  <a:lnTo>
                    <a:pt x="5774333" y="975490"/>
                  </a:lnTo>
                  <a:lnTo>
                    <a:pt x="5676001" y="889749"/>
                  </a:lnTo>
                  <a:cubicBezTo>
                    <a:pt x="5522381" y="769886"/>
                    <a:pt x="5355519" y="665657"/>
                    <a:pt x="5177132" y="581926"/>
                  </a:cubicBezTo>
                  <a:cubicBezTo>
                    <a:pt x="4998867" y="497965"/>
                    <a:pt x="4810183" y="433574"/>
                    <a:pt x="4615735" y="388640"/>
                  </a:cubicBezTo>
                  <a:cubicBezTo>
                    <a:pt x="4421289" y="343591"/>
                    <a:pt x="4221446" y="317649"/>
                    <a:pt x="4020010" y="308500"/>
                  </a:cubicBezTo>
                  <a:cubicBezTo>
                    <a:pt x="3818207" y="298887"/>
                    <a:pt x="3616649" y="305257"/>
                    <a:pt x="3416315" y="328882"/>
                  </a:cubicBezTo>
                  <a:cubicBezTo>
                    <a:pt x="3216106" y="352623"/>
                    <a:pt x="3017736" y="392346"/>
                    <a:pt x="2823779" y="446545"/>
                  </a:cubicBezTo>
                  <a:cubicBezTo>
                    <a:pt x="2629699" y="500513"/>
                    <a:pt x="2440401" y="570345"/>
                    <a:pt x="2256987" y="651296"/>
                  </a:cubicBezTo>
                  <a:cubicBezTo>
                    <a:pt x="1889058" y="811461"/>
                    <a:pt x="1545527" y="1023856"/>
                    <a:pt x="1244169" y="1280374"/>
                  </a:cubicBezTo>
                  <a:cubicBezTo>
                    <a:pt x="1093982" y="1409039"/>
                    <a:pt x="954828" y="1549400"/>
                    <a:pt x="830141" y="1700184"/>
                  </a:cubicBezTo>
                  <a:cubicBezTo>
                    <a:pt x="705209" y="1850736"/>
                    <a:pt x="594989" y="2012176"/>
                    <a:pt x="502792" y="2182300"/>
                  </a:cubicBezTo>
                  <a:cubicBezTo>
                    <a:pt x="410595" y="2352308"/>
                    <a:pt x="333847" y="2530307"/>
                    <a:pt x="280637" y="2715256"/>
                  </a:cubicBezTo>
                  <a:cubicBezTo>
                    <a:pt x="227306" y="2899741"/>
                    <a:pt x="199719" y="3091521"/>
                    <a:pt x="199843" y="3283418"/>
                  </a:cubicBezTo>
                  <a:cubicBezTo>
                    <a:pt x="200946" y="3377687"/>
                    <a:pt x="210754" y="3471261"/>
                    <a:pt x="233926" y="3561593"/>
                  </a:cubicBezTo>
                  <a:cubicBezTo>
                    <a:pt x="256730" y="3652040"/>
                    <a:pt x="292162" y="3738550"/>
                    <a:pt x="334582" y="3821816"/>
                  </a:cubicBezTo>
                  <a:cubicBezTo>
                    <a:pt x="356038" y="3863392"/>
                    <a:pt x="379823" y="3904157"/>
                    <a:pt x="404834" y="3944343"/>
                  </a:cubicBezTo>
                  <a:cubicBezTo>
                    <a:pt x="430212" y="3984413"/>
                    <a:pt x="457308" y="4023905"/>
                    <a:pt x="485506" y="4062932"/>
                  </a:cubicBezTo>
                  <a:cubicBezTo>
                    <a:pt x="542639" y="4140757"/>
                    <a:pt x="606146" y="4216265"/>
                    <a:pt x="671861" y="4292120"/>
                  </a:cubicBezTo>
                  <a:cubicBezTo>
                    <a:pt x="737576" y="4368091"/>
                    <a:pt x="806234" y="4444062"/>
                    <a:pt x="873542" y="4523044"/>
                  </a:cubicBezTo>
                  <a:cubicBezTo>
                    <a:pt x="907258" y="4562419"/>
                    <a:pt x="940606" y="4602721"/>
                    <a:pt x="973831" y="4643601"/>
                  </a:cubicBezTo>
                  <a:lnTo>
                    <a:pt x="1022014" y="4702780"/>
                  </a:lnTo>
                  <a:cubicBezTo>
                    <a:pt x="1037829" y="4721658"/>
                    <a:pt x="1052910" y="4740998"/>
                    <a:pt x="1069215" y="4759411"/>
                  </a:cubicBezTo>
                  <a:cubicBezTo>
                    <a:pt x="1196477" y="4909269"/>
                    <a:pt x="1334527" y="5047199"/>
                    <a:pt x="1474784" y="5177948"/>
                  </a:cubicBezTo>
                  <a:cubicBezTo>
                    <a:pt x="1545281" y="5243033"/>
                    <a:pt x="1617003" y="5305917"/>
                    <a:pt x="1690442" y="5366255"/>
                  </a:cubicBezTo>
                  <a:cubicBezTo>
                    <a:pt x="1763881" y="5426591"/>
                    <a:pt x="1838668" y="5484959"/>
                    <a:pt x="1916276" y="5539852"/>
                  </a:cubicBezTo>
                  <a:cubicBezTo>
                    <a:pt x="2070877" y="5649872"/>
                    <a:pt x="2237617" y="5748194"/>
                    <a:pt x="2420784" y="5814437"/>
                  </a:cubicBezTo>
                  <a:cubicBezTo>
                    <a:pt x="2512124" y="5847559"/>
                    <a:pt x="2606773" y="5872921"/>
                    <a:pt x="2703015" y="5892029"/>
                  </a:cubicBezTo>
                  <a:cubicBezTo>
                    <a:pt x="2727168" y="5896546"/>
                    <a:pt x="2751075" y="5901758"/>
                    <a:pt x="2775350" y="5905695"/>
                  </a:cubicBezTo>
                  <a:lnTo>
                    <a:pt x="2848299" y="5917161"/>
                  </a:lnTo>
                  <a:cubicBezTo>
                    <a:pt x="2897218" y="5923298"/>
                    <a:pt x="2946136" y="5929784"/>
                    <a:pt x="2995544" y="5933605"/>
                  </a:cubicBezTo>
                  <a:cubicBezTo>
                    <a:pt x="3020188" y="5935806"/>
                    <a:pt x="3044831" y="5937891"/>
                    <a:pt x="3069596" y="5938933"/>
                  </a:cubicBezTo>
                  <a:cubicBezTo>
                    <a:pt x="3094362" y="5940090"/>
                    <a:pt x="3119005" y="5941943"/>
                    <a:pt x="3143894" y="5942639"/>
                  </a:cubicBezTo>
                  <a:lnTo>
                    <a:pt x="3218436" y="5944260"/>
                  </a:lnTo>
                  <a:cubicBezTo>
                    <a:pt x="3243201" y="5944838"/>
                    <a:pt x="3268212" y="5944029"/>
                    <a:pt x="3293101" y="5943913"/>
                  </a:cubicBezTo>
                  <a:lnTo>
                    <a:pt x="3330494" y="5943565"/>
                  </a:lnTo>
                  <a:cubicBezTo>
                    <a:pt x="3342632" y="5943218"/>
                    <a:pt x="3354524" y="5942523"/>
                    <a:pt x="3366540" y="5942059"/>
                  </a:cubicBezTo>
                  <a:cubicBezTo>
                    <a:pt x="3378554" y="5941480"/>
                    <a:pt x="3390570" y="5941134"/>
                    <a:pt x="3402462" y="5940323"/>
                  </a:cubicBezTo>
                  <a:lnTo>
                    <a:pt x="3438262" y="5937543"/>
                  </a:lnTo>
                  <a:cubicBezTo>
                    <a:pt x="3485954" y="5933953"/>
                    <a:pt x="3533279" y="5927931"/>
                    <a:pt x="3580236" y="5920982"/>
                  </a:cubicBezTo>
                  <a:cubicBezTo>
                    <a:pt x="3768185" y="5891567"/>
                    <a:pt x="3948901" y="5834010"/>
                    <a:pt x="4121034" y="5753290"/>
                  </a:cubicBezTo>
                  <a:cubicBezTo>
                    <a:pt x="4293782" y="5673497"/>
                    <a:pt x="4458191" y="5571353"/>
                    <a:pt x="4620639" y="5459364"/>
                  </a:cubicBezTo>
                  <a:cubicBezTo>
                    <a:pt x="4661221" y="5431455"/>
                    <a:pt x="4701557" y="5402271"/>
                    <a:pt x="4741771" y="5372971"/>
                  </a:cubicBezTo>
                  <a:cubicBezTo>
                    <a:pt x="4782230" y="5343672"/>
                    <a:pt x="4822566" y="5313908"/>
                    <a:pt x="4862901" y="5283682"/>
                  </a:cubicBezTo>
                  <a:lnTo>
                    <a:pt x="5108229" y="5098386"/>
                  </a:lnTo>
                  <a:cubicBezTo>
                    <a:pt x="5276563" y="4972270"/>
                    <a:pt x="5446489" y="4854838"/>
                    <a:pt x="5612493" y="4739724"/>
                  </a:cubicBezTo>
                  <a:lnTo>
                    <a:pt x="5774333" y="4623488"/>
                  </a:lnTo>
                  <a:lnTo>
                    <a:pt x="5774333" y="5232926"/>
                  </a:lnTo>
                  <a:lnTo>
                    <a:pt x="5676492" y="5306859"/>
                  </a:lnTo>
                  <a:cubicBezTo>
                    <a:pt x="5592693" y="5367905"/>
                    <a:pt x="5508955" y="5427286"/>
                    <a:pt x="5426260" y="5486233"/>
                  </a:cubicBezTo>
                  <a:lnTo>
                    <a:pt x="5300225" y="5576217"/>
                  </a:lnTo>
                  <a:cubicBezTo>
                    <a:pt x="5257559" y="5606443"/>
                    <a:pt x="5214525" y="5636901"/>
                    <a:pt x="5170757" y="5666780"/>
                  </a:cubicBezTo>
                  <a:cubicBezTo>
                    <a:pt x="5127110" y="5696775"/>
                    <a:pt x="5082973" y="5726654"/>
                    <a:pt x="5038100" y="5756185"/>
                  </a:cubicBezTo>
                  <a:cubicBezTo>
                    <a:pt x="4993106" y="5785486"/>
                    <a:pt x="4947743" y="5814553"/>
                    <a:pt x="4901276" y="5843043"/>
                  </a:cubicBezTo>
                  <a:cubicBezTo>
                    <a:pt x="4808835" y="5900136"/>
                    <a:pt x="4713449" y="5955494"/>
                    <a:pt x="4614019" y="6006103"/>
                  </a:cubicBezTo>
                  <a:cubicBezTo>
                    <a:pt x="4514711" y="6056943"/>
                    <a:pt x="4411971" y="6104192"/>
                    <a:pt x="4305061" y="6144726"/>
                  </a:cubicBezTo>
                  <a:cubicBezTo>
                    <a:pt x="4092223" y="6226952"/>
                    <a:pt x="3863569" y="6282424"/>
                    <a:pt x="3632710" y="6304196"/>
                  </a:cubicBezTo>
                  <a:cubicBezTo>
                    <a:pt x="3574964" y="6309408"/>
                    <a:pt x="3517218" y="6313345"/>
                    <a:pt x="3459594" y="6314504"/>
                  </a:cubicBezTo>
                  <a:lnTo>
                    <a:pt x="3416315" y="6315429"/>
                  </a:lnTo>
                  <a:cubicBezTo>
                    <a:pt x="3401971" y="6315546"/>
                    <a:pt x="3387505" y="6315198"/>
                    <a:pt x="3373159" y="6315198"/>
                  </a:cubicBezTo>
                  <a:lnTo>
                    <a:pt x="3330127" y="6314735"/>
                  </a:lnTo>
                  <a:lnTo>
                    <a:pt x="3288320" y="6313230"/>
                  </a:lnTo>
                  <a:cubicBezTo>
                    <a:pt x="3176996" y="6309870"/>
                    <a:pt x="3065428" y="6301533"/>
                    <a:pt x="2954350" y="6288098"/>
                  </a:cubicBezTo>
                  <a:cubicBezTo>
                    <a:pt x="2843150" y="6275360"/>
                    <a:pt x="2732194" y="6257061"/>
                    <a:pt x="2622466" y="6232742"/>
                  </a:cubicBezTo>
                  <a:cubicBezTo>
                    <a:pt x="2512859" y="6208190"/>
                    <a:pt x="2404110" y="6179122"/>
                    <a:pt x="2296466" y="6146001"/>
                  </a:cubicBezTo>
                  <a:cubicBezTo>
                    <a:pt x="2081544" y="6079179"/>
                    <a:pt x="1869073" y="5996027"/>
                    <a:pt x="1672419" y="5885197"/>
                  </a:cubicBezTo>
                  <a:cubicBezTo>
                    <a:pt x="1475643" y="5774599"/>
                    <a:pt x="1299954" y="5634353"/>
                    <a:pt x="1146578" y="5479168"/>
                  </a:cubicBezTo>
                  <a:cubicBezTo>
                    <a:pt x="1069461" y="5401692"/>
                    <a:pt x="999333" y="5319235"/>
                    <a:pt x="933372" y="5234810"/>
                  </a:cubicBezTo>
                  <a:cubicBezTo>
                    <a:pt x="867781" y="5150038"/>
                    <a:pt x="805375" y="5063991"/>
                    <a:pt x="747140" y="4976091"/>
                  </a:cubicBezTo>
                  <a:cubicBezTo>
                    <a:pt x="732182" y="4954319"/>
                    <a:pt x="718082" y="4932199"/>
                    <a:pt x="703616" y="4910196"/>
                  </a:cubicBezTo>
                  <a:lnTo>
                    <a:pt x="662053" y="4846269"/>
                  </a:lnTo>
                  <a:cubicBezTo>
                    <a:pt x="635449" y="4804925"/>
                    <a:pt x="607864" y="4763928"/>
                    <a:pt x="580033" y="4722352"/>
                  </a:cubicBezTo>
                  <a:lnTo>
                    <a:pt x="410105" y="4469193"/>
                  </a:lnTo>
                  <a:cubicBezTo>
                    <a:pt x="353095" y="4382915"/>
                    <a:pt x="296820" y="4294089"/>
                    <a:pt x="244224" y="4201556"/>
                  </a:cubicBezTo>
                  <a:cubicBezTo>
                    <a:pt x="217987" y="4155232"/>
                    <a:pt x="192609" y="4108098"/>
                    <a:pt x="169437" y="4059690"/>
                  </a:cubicBezTo>
                  <a:cubicBezTo>
                    <a:pt x="146388" y="4011165"/>
                    <a:pt x="124932" y="3961715"/>
                    <a:pt x="105929" y="3911221"/>
                  </a:cubicBezTo>
                  <a:cubicBezTo>
                    <a:pt x="87293" y="3860613"/>
                    <a:pt x="70742" y="3809309"/>
                    <a:pt x="57256" y="3757195"/>
                  </a:cubicBezTo>
                  <a:cubicBezTo>
                    <a:pt x="50881" y="3731138"/>
                    <a:pt x="44383" y="3704965"/>
                    <a:pt x="39111" y="3678677"/>
                  </a:cubicBezTo>
                  <a:lnTo>
                    <a:pt x="31142" y="3639300"/>
                  </a:lnTo>
                  <a:lnTo>
                    <a:pt x="24521" y="3599809"/>
                  </a:lnTo>
                  <a:cubicBezTo>
                    <a:pt x="7234" y="3494423"/>
                    <a:pt x="0" y="3388457"/>
                    <a:pt x="0" y="3283418"/>
                  </a:cubicBezTo>
                  <a:cubicBezTo>
                    <a:pt x="491" y="3076698"/>
                    <a:pt x="23418" y="2869978"/>
                    <a:pt x="68045" y="2666963"/>
                  </a:cubicBezTo>
                  <a:cubicBezTo>
                    <a:pt x="112550" y="2464064"/>
                    <a:pt x="180717" y="2265104"/>
                    <a:pt x="272546" y="2076334"/>
                  </a:cubicBezTo>
                  <a:cubicBezTo>
                    <a:pt x="457062" y="1698794"/>
                    <a:pt x="724457" y="1360978"/>
                    <a:pt x="1039300" y="1073307"/>
                  </a:cubicBezTo>
                  <a:cubicBezTo>
                    <a:pt x="1197090" y="929472"/>
                    <a:pt x="1367630" y="798259"/>
                    <a:pt x="1547733" y="680365"/>
                  </a:cubicBezTo>
                  <a:cubicBezTo>
                    <a:pt x="1728081" y="562587"/>
                    <a:pt x="1917870" y="457663"/>
                    <a:pt x="2115995" y="368373"/>
                  </a:cubicBezTo>
                  <a:cubicBezTo>
                    <a:pt x="2512737" y="191070"/>
                    <a:pt x="2939883" y="73870"/>
                    <a:pt x="3377451" y="24304"/>
                  </a:cubicBezTo>
                  <a:cubicBezTo>
                    <a:pt x="3486812" y="12086"/>
                    <a:pt x="3596971" y="4500"/>
                    <a:pt x="3707237" y="148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C18CE1F-9DF1-47AF-9E66-6CE348AC2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464911 h 6229400"/>
                <a:gd name="connsiteX4" fmla="*/ 5660063 w 5769111"/>
                <a:gd name="connsiteY4" fmla="*/ 1328105 h 6229400"/>
                <a:gd name="connsiteX5" fmla="*/ 4910471 w 5769111"/>
                <a:gd name="connsiteY5" fmla="*/ 781599 h 6229400"/>
                <a:gd name="connsiteX6" fmla="*/ 3882695 w 5769111"/>
                <a:gd name="connsiteY6" fmla="*/ 579048 h 6229400"/>
                <a:gd name="connsiteX7" fmla="*/ 2683153 w 5769111"/>
                <a:gd name="connsiteY7" fmla="*/ 797003 h 6229400"/>
                <a:gd name="connsiteX8" fmla="*/ 1617493 w 5769111"/>
                <a:gd name="connsiteY8" fmla="*/ 1395738 h 6229400"/>
                <a:gd name="connsiteX9" fmla="*/ 880408 w 5769111"/>
                <a:gd name="connsiteY9" fmla="*/ 2259099 h 6229400"/>
                <a:gd name="connsiteX10" fmla="*/ 613135 w 5769111"/>
                <a:gd name="connsiteY10" fmla="*/ 3263863 h 6229400"/>
                <a:gd name="connsiteX11" fmla="*/ 1055484 w 5769111"/>
                <a:gd name="connsiteY11" fmla="*/ 4196825 h 6229400"/>
                <a:gd name="connsiteX12" fmla="*/ 1278376 w 5769111"/>
                <a:gd name="connsiteY12" fmla="*/ 4492950 h 6229400"/>
                <a:gd name="connsiteX13" fmla="*/ 3369851 w 5769111"/>
                <a:gd name="connsiteY13" fmla="*/ 5650468 h 6229400"/>
                <a:gd name="connsiteX14" fmla="*/ 4957551 w 5769111"/>
                <a:gd name="connsiteY14" fmla="*/ 4938355 h 6229400"/>
                <a:gd name="connsiteX15" fmla="*/ 5150773 w 5769111"/>
                <a:gd name="connsiteY15" fmla="*/ 4796950 h 6229400"/>
                <a:gd name="connsiteX16" fmla="*/ 5747247 w 5769111"/>
                <a:gd name="connsiteY16" fmla="*/ 4338176 h 6229400"/>
                <a:gd name="connsiteX17" fmla="*/ 5769111 w 5769111"/>
                <a:gd name="connsiteY17" fmla="*/ 4318497 h 6229400"/>
                <a:gd name="connsiteX18" fmla="*/ 5769111 w 5769111"/>
                <a:gd name="connsiteY18" fmla="*/ 5074612 h 6229400"/>
                <a:gd name="connsiteX19" fmla="*/ 5636252 w 5769111"/>
                <a:gd name="connsiteY19" fmla="*/ 5174208 h 6229400"/>
                <a:gd name="connsiteX20" fmla="*/ 5334922 w 5769111"/>
                <a:gd name="connsiteY20" fmla="*/ 5394528 h 6229400"/>
                <a:gd name="connsiteX21" fmla="*/ 3369727 w 5769111"/>
                <a:gd name="connsiteY21" fmla="*/ 6229400 h 6229400"/>
                <a:gd name="connsiteX22" fmla="*/ 771046 w 5769111"/>
                <a:gd name="connsiteY22" fmla="*/ 4817913 h 6229400"/>
                <a:gd name="connsiteX23" fmla="*/ 0 w 5769111"/>
                <a:gd name="connsiteY23" fmla="*/ 3263748 h 6229400"/>
                <a:gd name="connsiteX24" fmla="*/ 3882695 w 5769111"/>
                <a:gd name="connsiteY24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464911"/>
                  </a:lnTo>
                  <a:lnTo>
                    <a:pt x="5660063" y="1328105"/>
                  </a:lnTo>
                  <a:cubicBezTo>
                    <a:pt x="5449800" y="1091506"/>
                    <a:pt x="5197607" y="907600"/>
                    <a:pt x="4910471" y="781599"/>
                  </a:cubicBezTo>
                  <a:cubicBezTo>
                    <a:pt x="4604088" y="647260"/>
                    <a:pt x="4258349" y="579048"/>
                    <a:pt x="3882695" y="579048"/>
                  </a:cubicBezTo>
                  <a:cubicBezTo>
                    <a:pt x="3484238" y="579048"/>
                    <a:pt x="3080631" y="652240"/>
                    <a:pt x="2683153" y="797003"/>
                  </a:cubicBezTo>
                  <a:cubicBezTo>
                    <a:pt x="2296098" y="937595"/>
                    <a:pt x="1927678" y="1144662"/>
                    <a:pt x="1617493" y="1395738"/>
                  </a:cubicBezTo>
                  <a:cubicBezTo>
                    <a:pt x="1301915" y="1651098"/>
                    <a:pt x="1053890" y="1941665"/>
                    <a:pt x="880408" y="2259099"/>
                  </a:cubicBezTo>
                  <a:cubicBezTo>
                    <a:pt x="703125" y="2583597"/>
                    <a:pt x="613135" y="2921645"/>
                    <a:pt x="613135" y="3263863"/>
                  </a:cubicBezTo>
                  <a:cubicBezTo>
                    <a:pt x="613135" y="3608512"/>
                    <a:pt x="756702" y="3809789"/>
                    <a:pt x="1055484" y="4196825"/>
                  </a:cubicBezTo>
                  <a:cubicBezTo>
                    <a:pt x="1127574" y="4290167"/>
                    <a:pt x="1202116" y="4386753"/>
                    <a:pt x="1278376" y="4492950"/>
                  </a:cubicBezTo>
                  <a:cubicBezTo>
                    <a:pt x="1861105" y="5304313"/>
                    <a:pt x="2486623" y="5650468"/>
                    <a:pt x="3369851" y="5650468"/>
                  </a:cubicBezTo>
                  <a:cubicBezTo>
                    <a:pt x="3949515" y="5650468"/>
                    <a:pt x="4374822" y="5368471"/>
                    <a:pt x="4957551" y="4938355"/>
                  </a:cubicBezTo>
                  <a:cubicBezTo>
                    <a:pt x="5022653" y="4890293"/>
                    <a:pt x="5087755" y="4842811"/>
                    <a:pt x="5150773" y="4796950"/>
                  </a:cubicBezTo>
                  <a:cubicBezTo>
                    <a:pt x="5364254" y="4641404"/>
                    <a:pt x="5570313" y="4491241"/>
                    <a:pt x="5747247" y="4338176"/>
                  </a:cubicBezTo>
                  <a:lnTo>
                    <a:pt x="5769111" y="4318497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BD26A8C-8D1D-41E6-A71E-FE9AC75F3F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675390 h 6229400"/>
                <a:gd name="connsiteX4" fmla="*/ 5711488 w 5769111"/>
                <a:gd name="connsiteY4" fmla="*/ 1585205 h 6229400"/>
                <a:gd name="connsiteX5" fmla="*/ 5566027 w 5769111"/>
                <a:gd name="connsiteY5" fmla="*/ 1402571 h 6229400"/>
                <a:gd name="connsiteX6" fmla="*/ 4858734 w 5769111"/>
                <a:gd name="connsiteY6" fmla="*/ 886639 h 6229400"/>
                <a:gd name="connsiteX7" fmla="*/ 3882695 w 5769111"/>
                <a:gd name="connsiteY7" fmla="*/ 694858 h 6229400"/>
                <a:gd name="connsiteX8" fmla="*/ 2727046 w 5769111"/>
                <a:gd name="connsiteY8" fmla="*/ 905053 h 6229400"/>
                <a:gd name="connsiteX9" fmla="*/ 1697186 w 5769111"/>
                <a:gd name="connsiteY9" fmla="*/ 1483638 h 6229400"/>
                <a:gd name="connsiteX10" fmla="*/ 989279 w 5769111"/>
                <a:gd name="connsiteY10" fmla="*/ 2312139 h 6229400"/>
                <a:gd name="connsiteX11" fmla="*/ 735615 w 5769111"/>
                <a:gd name="connsiteY11" fmla="*/ 3263863 h 6229400"/>
                <a:gd name="connsiteX12" fmla="*/ 1154424 w 5769111"/>
                <a:gd name="connsiteY12" fmla="*/ 4128614 h 6229400"/>
                <a:gd name="connsiteX13" fmla="*/ 1379768 w 5769111"/>
                <a:gd name="connsiteY13" fmla="*/ 4427981 h 6229400"/>
                <a:gd name="connsiteX14" fmla="*/ 2239456 w 5769111"/>
                <a:gd name="connsiteY14" fmla="*/ 5256947 h 6229400"/>
                <a:gd name="connsiteX15" fmla="*/ 3369727 w 5769111"/>
                <a:gd name="connsiteY15" fmla="*/ 5534658 h 6229400"/>
                <a:gd name="connsiteX16" fmla="*/ 4096760 w 5769111"/>
                <a:gd name="connsiteY16" fmla="*/ 5357817 h 6229400"/>
                <a:gd name="connsiteX17" fmla="*/ 4881905 w 5769111"/>
                <a:gd name="connsiteY17" fmla="*/ 4847212 h 6229400"/>
                <a:gd name="connsiteX18" fmla="*/ 5075739 w 5769111"/>
                <a:gd name="connsiteY18" fmla="*/ 4705346 h 6229400"/>
                <a:gd name="connsiteX19" fmla="*/ 5759930 w 5769111"/>
                <a:gd name="connsiteY19" fmla="*/ 4166809 h 6229400"/>
                <a:gd name="connsiteX20" fmla="*/ 5769111 w 5769111"/>
                <a:gd name="connsiteY20" fmla="*/ 4157764 h 6229400"/>
                <a:gd name="connsiteX21" fmla="*/ 5769111 w 5769111"/>
                <a:gd name="connsiteY21" fmla="*/ 5074612 h 6229400"/>
                <a:gd name="connsiteX22" fmla="*/ 5636252 w 5769111"/>
                <a:gd name="connsiteY22" fmla="*/ 5174208 h 6229400"/>
                <a:gd name="connsiteX23" fmla="*/ 5334922 w 5769111"/>
                <a:gd name="connsiteY23" fmla="*/ 5394528 h 6229400"/>
                <a:gd name="connsiteX24" fmla="*/ 3369727 w 5769111"/>
                <a:gd name="connsiteY24" fmla="*/ 6229400 h 6229400"/>
                <a:gd name="connsiteX25" fmla="*/ 771046 w 5769111"/>
                <a:gd name="connsiteY25" fmla="*/ 4817913 h 6229400"/>
                <a:gd name="connsiteX26" fmla="*/ 0 w 5769111"/>
                <a:gd name="connsiteY26" fmla="*/ 3263748 h 6229400"/>
                <a:gd name="connsiteX27" fmla="*/ 3882695 w 5769111"/>
                <a:gd name="connsiteY27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675390"/>
                  </a:lnTo>
                  <a:lnTo>
                    <a:pt x="5711488" y="1585205"/>
                  </a:lnTo>
                  <a:cubicBezTo>
                    <a:pt x="5665942" y="1521390"/>
                    <a:pt x="5617428" y="1460432"/>
                    <a:pt x="5566027" y="1402571"/>
                  </a:cubicBezTo>
                  <a:cubicBezTo>
                    <a:pt x="5367411" y="1179058"/>
                    <a:pt x="5129563" y="1005460"/>
                    <a:pt x="4858734" y="886639"/>
                  </a:cubicBezTo>
                  <a:cubicBezTo>
                    <a:pt x="4568779" y="759363"/>
                    <a:pt x="4240327" y="694858"/>
                    <a:pt x="3882695" y="694858"/>
                  </a:cubicBezTo>
                  <a:cubicBezTo>
                    <a:pt x="3504835" y="694858"/>
                    <a:pt x="3105151" y="767471"/>
                    <a:pt x="2727046" y="905053"/>
                  </a:cubicBezTo>
                  <a:cubicBezTo>
                    <a:pt x="2352985" y="1041013"/>
                    <a:pt x="1996826" y="1241132"/>
                    <a:pt x="1697186" y="1483638"/>
                  </a:cubicBezTo>
                  <a:cubicBezTo>
                    <a:pt x="1397913" y="1725796"/>
                    <a:pt x="1153199" y="2012308"/>
                    <a:pt x="989279" y="2312139"/>
                  </a:cubicBezTo>
                  <a:cubicBezTo>
                    <a:pt x="820946" y="2620077"/>
                    <a:pt x="735615" y="2940290"/>
                    <a:pt x="735615" y="3263863"/>
                  </a:cubicBezTo>
                  <a:cubicBezTo>
                    <a:pt x="735615" y="3573074"/>
                    <a:pt x="863980" y="3752464"/>
                    <a:pt x="1154424" y="4128614"/>
                  </a:cubicBezTo>
                  <a:cubicBezTo>
                    <a:pt x="1227127" y="4222767"/>
                    <a:pt x="1302282" y="4320162"/>
                    <a:pt x="1379768" y="4427981"/>
                  </a:cubicBezTo>
                  <a:cubicBezTo>
                    <a:pt x="1653784" y="4809458"/>
                    <a:pt x="1934912" y="5080685"/>
                    <a:pt x="2239456" y="5256947"/>
                  </a:cubicBezTo>
                  <a:cubicBezTo>
                    <a:pt x="2562268" y="5443863"/>
                    <a:pt x="2932037" y="5534658"/>
                    <a:pt x="3369727" y="5534658"/>
                  </a:cubicBezTo>
                  <a:cubicBezTo>
                    <a:pt x="3618120" y="5534658"/>
                    <a:pt x="3849103" y="5478491"/>
                    <a:pt x="4096760" y="5357817"/>
                  </a:cubicBezTo>
                  <a:cubicBezTo>
                    <a:pt x="4351037" y="5233901"/>
                    <a:pt x="4602740" y="5053238"/>
                    <a:pt x="4881905" y="4847212"/>
                  </a:cubicBezTo>
                  <a:cubicBezTo>
                    <a:pt x="4947375" y="4798920"/>
                    <a:pt x="5012599" y="4751322"/>
                    <a:pt x="5075739" y="4705346"/>
                  </a:cubicBezTo>
                  <a:cubicBezTo>
                    <a:pt x="5327320" y="4521990"/>
                    <a:pt x="5568418" y="4346256"/>
                    <a:pt x="5759930" y="4166809"/>
                  </a:cubicBezTo>
                  <a:lnTo>
                    <a:pt x="5769111" y="4157764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Graphic 6" descr="Upward trend">
            <a:extLst>
              <a:ext uri="{FF2B5EF4-FFF2-40B4-BE49-F238E27FC236}">
                <a16:creationId xmlns:a16="http://schemas.microsoft.com/office/drawing/2014/main" id="{F35E7B22-F7EA-229B-D2DC-C0B1378099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21726" y="1629089"/>
            <a:ext cx="3620021" cy="362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30419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E8D136-81DF-B9E3-A49A-6F27E4265D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>
                <a:latin typeface="Times New Roman" panose="02020603050405020304" pitchFamily="18" charset="0"/>
                <a:cs typeface="Times New Roman" panose="02020603050405020304" pitchFamily="18" charset="0"/>
              </a:rPr>
              <a:t>Project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2D6FD9-9448-DAFD-8B91-0952C60EFB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900">
                <a:latin typeface="Times New Roman" panose="02020603050405020304" pitchFamily="18" charset="0"/>
                <a:cs typeface="Times New Roman" panose="02020603050405020304" pitchFamily="18" charset="0"/>
              </a:rPr>
              <a:t>Our database solution provides Outland Adventures with: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complete, normalized data model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for bookings, equipment, employees, and orders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reporting for business decisions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Flexibility to expand into ecommerce and more regions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believe this system gives the business exactly what it needs to grow efficiently.</a:t>
            </a:r>
          </a:p>
        </p:txBody>
      </p:sp>
      <p:pic>
        <p:nvPicPr>
          <p:cNvPr id="5" name="Picture 4" descr="Desk with productivity items">
            <a:extLst>
              <a:ext uri="{FF2B5EF4-FFF2-40B4-BE49-F238E27FC236}">
                <a16:creationId xmlns:a16="http://schemas.microsoft.com/office/drawing/2014/main" id="{53EF28F5-E08F-1B4C-E16B-5CD8CCDC07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925" r="12675" b="-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5039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DDBB197-D710-4A4F-A9CA-FD2177498B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5D1CFA-2CDB-4B64-BD9F-85744E8DA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A7B0DA-E2DD-B0A6-E95B-B409FEE33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802955"/>
            <a:ext cx="4977976" cy="1454051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AC5F56-620D-696C-D713-96EB2B5F26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421682"/>
            <a:ext cx="4977578" cy="363928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800" b="1">
                <a:solidFill>
                  <a:schemeClr val="tx2"/>
                </a:solidFill>
              </a:rPr>
              <a:t>Questions?</a:t>
            </a:r>
            <a:br>
              <a:rPr lang="en-US" sz="1800">
                <a:solidFill>
                  <a:schemeClr val="tx2"/>
                </a:solidFill>
              </a:rPr>
            </a:br>
            <a:endParaRPr lang="en-US" sz="1800">
              <a:solidFill>
                <a:schemeClr val="tx2"/>
              </a:solidFill>
            </a:endParaRPr>
          </a:p>
          <a:p>
            <a:endParaRPr lang="en-US" sz="180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180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1800">
                <a:solidFill>
                  <a:schemeClr val="tx2"/>
                </a:solidFill>
              </a:rPr>
              <a:t>Green Group</a:t>
            </a:r>
          </a:p>
          <a:p>
            <a:pPr marL="0" indent="0">
              <a:buNone/>
            </a:pPr>
            <a:r>
              <a:rPr lang="en-US" sz="1800">
                <a:solidFill>
                  <a:schemeClr val="tx2"/>
                </a:solidFill>
              </a:rPr>
              <a:t>Alexander Baldree</a:t>
            </a:r>
          </a:p>
          <a:p>
            <a:pPr marL="0" indent="0">
              <a:buNone/>
            </a:pPr>
            <a:r>
              <a:rPr lang="en-US" sz="1800">
                <a:solidFill>
                  <a:schemeClr val="tx2"/>
                </a:solidFill>
              </a:rPr>
              <a:t>Jordan Dardar</a:t>
            </a:r>
          </a:p>
          <a:p>
            <a:pPr marL="0" indent="0">
              <a:buNone/>
            </a:pPr>
            <a:r>
              <a:rPr lang="en-US" sz="180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Maksymilian Jankowski</a:t>
            </a:r>
          </a:p>
          <a:p>
            <a:pPr marL="0" indent="0">
              <a:buNone/>
            </a:pPr>
            <a:r>
              <a:rPr lang="en-US" sz="180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Aftabur Rahman</a:t>
            </a:r>
          </a:p>
          <a:p>
            <a:pPr marL="0" indent="0">
              <a:buNone/>
            </a:pPr>
            <a:endParaRPr lang="en-US" sz="1800">
              <a:solidFill>
                <a:schemeClr val="tx2"/>
              </a:solidFill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5EE5136-01F1-466C-962D-BA9B4C675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369897" y="0"/>
            <a:ext cx="5822103" cy="6685267"/>
            <a:chOff x="6357228" y="0"/>
            <a:chExt cx="5822103" cy="6685267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11D3AD4-AF9B-4EB5-8C7B-C45D173B4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57228" y="0"/>
              <a:ext cx="5822102" cy="6685267"/>
            </a:xfrm>
            <a:custGeom>
              <a:avLst/>
              <a:gdLst>
                <a:gd name="connsiteX0" fmla="*/ 2605444 w 5822102"/>
                <a:gd name="connsiteY0" fmla="*/ 0 h 6685267"/>
                <a:gd name="connsiteX1" fmla="*/ 4757391 w 5822102"/>
                <a:gd name="connsiteY1" fmla="*/ 0 h 6685267"/>
                <a:gd name="connsiteX2" fmla="*/ 4913680 w 5822102"/>
                <a:gd name="connsiteY2" fmla="*/ 56274 h 6685267"/>
                <a:gd name="connsiteX3" fmla="*/ 5376238 w 5822102"/>
                <a:gd name="connsiteY3" fmla="*/ 282027 h 6685267"/>
                <a:gd name="connsiteX4" fmla="*/ 5658024 w 5822102"/>
                <a:gd name="connsiteY4" fmla="*/ 471014 h 6685267"/>
                <a:gd name="connsiteX5" fmla="*/ 5822102 w 5822102"/>
                <a:gd name="connsiteY5" fmla="*/ 609109 h 6685267"/>
                <a:gd name="connsiteX6" fmla="*/ 5822102 w 5822102"/>
                <a:gd name="connsiteY6" fmla="*/ 760697 h 6685267"/>
                <a:gd name="connsiteX7" fmla="*/ 5707785 w 5822102"/>
                <a:gd name="connsiteY7" fmla="*/ 666601 h 6685267"/>
                <a:gd name="connsiteX8" fmla="*/ 5577306 w 5822102"/>
                <a:gd name="connsiteY8" fmla="*/ 571666 h 6685267"/>
                <a:gd name="connsiteX9" fmla="*/ 5298630 w 5822102"/>
                <a:gd name="connsiteY9" fmla="*/ 407449 h 6685267"/>
                <a:gd name="connsiteX10" fmla="*/ 4690768 w 5822102"/>
                <a:gd name="connsiteY10" fmla="*/ 184979 h 6685267"/>
                <a:gd name="connsiteX11" fmla="*/ 4048577 w 5822102"/>
                <a:gd name="connsiteY11" fmla="*/ 99280 h 6685267"/>
                <a:gd name="connsiteX12" fmla="*/ 3405404 w 5822102"/>
                <a:gd name="connsiteY12" fmla="*/ 131937 h 6685267"/>
                <a:gd name="connsiteX13" fmla="*/ 3089702 w 5822102"/>
                <a:gd name="connsiteY13" fmla="*/ 190190 h 6685267"/>
                <a:gd name="connsiteX14" fmla="*/ 2780132 w 5822102"/>
                <a:gd name="connsiteY14" fmla="*/ 273457 h 6685267"/>
                <a:gd name="connsiteX15" fmla="*/ 2478040 w 5822102"/>
                <a:gd name="connsiteY15" fmla="*/ 379654 h 6685267"/>
                <a:gd name="connsiteX16" fmla="*/ 2184897 w 5822102"/>
                <a:gd name="connsiteY16" fmla="*/ 507972 h 6685267"/>
                <a:gd name="connsiteX17" fmla="*/ 1629141 w 5822102"/>
                <a:gd name="connsiteY17" fmla="*/ 823205 h 6685267"/>
                <a:gd name="connsiteX18" fmla="*/ 1497711 w 5822102"/>
                <a:gd name="connsiteY18" fmla="*/ 914000 h 6685267"/>
                <a:gd name="connsiteX19" fmla="*/ 1433099 w 5822102"/>
                <a:gd name="connsiteY19" fmla="*/ 960903 h 6685267"/>
                <a:gd name="connsiteX20" fmla="*/ 1369346 w 5822102"/>
                <a:gd name="connsiteY20" fmla="*/ 1008963 h 6685267"/>
                <a:gd name="connsiteX21" fmla="*/ 1123406 w 5822102"/>
                <a:gd name="connsiteY21" fmla="*/ 1212905 h 6685267"/>
                <a:gd name="connsiteX22" fmla="*/ 684367 w 5822102"/>
                <a:gd name="connsiteY22" fmla="*/ 1675564 h 6685267"/>
                <a:gd name="connsiteX23" fmla="*/ 497153 w 5822102"/>
                <a:gd name="connsiteY23" fmla="*/ 1933588 h 6685267"/>
                <a:gd name="connsiteX24" fmla="*/ 337770 w 5822102"/>
                <a:gd name="connsiteY24" fmla="*/ 2208983 h 6685267"/>
                <a:gd name="connsiteX25" fmla="*/ 302461 w 5822102"/>
                <a:gd name="connsiteY25" fmla="*/ 2280207 h 6685267"/>
                <a:gd name="connsiteX26" fmla="*/ 285296 w 5822102"/>
                <a:gd name="connsiteY26" fmla="*/ 2316107 h 6685267"/>
                <a:gd name="connsiteX27" fmla="*/ 268991 w 5822102"/>
                <a:gd name="connsiteY27" fmla="*/ 2352355 h 6685267"/>
                <a:gd name="connsiteX28" fmla="*/ 237849 w 5822102"/>
                <a:gd name="connsiteY28" fmla="*/ 2425432 h 6685267"/>
                <a:gd name="connsiteX29" fmla="*/ 208670 w 5822102"/>
                <a:gd name="connsiteY29" fmla="*/ 2499319 h 6685267"/>
                <a:gd name="connsiteX30" fmla="*/ 113775 w 5822102"/>
                <a:gd name="connsiteY30" fmla="*/ 2801929 h 6685267"/>
                <a:gd name="connsiteX31" fmla="*/ 36781 w 5822102"/>
                <a:gd name="connsiteY31" fmla="*/ 3428922 h 6685267"/>
                <a:gd name="connsiteX32" fmla="*/ 69148 w 5822102"/>
                <a:gd name="connsiteY32" fmla="*/ 3741955 h 6685267"/>
                <a:gd name="connsiteX33" fmla="*/ 167966 w 5822102"/>
                <a:gd name="connsiteY33" fmla="*/ 4041323 h 6685267"/>
                <a:gd name="connsiteX34" fmla="*/ 202049 w 5822102"/>
                <a:gd name="connsiteY34" fmla="*/ 4112894 h 6685267"/>
                <a:gd name="connsiteX35" fmla="*/ 239933 w 5822102"/>
                <a:gd name="connsiteY35" fmla="*/ 4182843 h 6685267"/>
                <a:gd name="connsiteX36" fmla="*/ 323916 w 5822102"/>
                <a:gd name="connsiteY36" fmla="*/ 4318456 h 6685267"/>
                <a:gd name="connsiteX37" fmla="*/ 416604 w 5822102"/>
                <a:gd name="connsiteY37" fmla="*/ 4449436 h 6685267"/>
                <a:gd name="connsiteX38" fmla="*/ 515911 w 5822102"/>
                <a:gd name="connsiteY38" fmla="*/ 4576711 h 6685267"/>
                <a:gd name="connsiteX39" fmla="*/ 722619 w 5822102"/>
                <a:gd name="connsiteY39" fmla="*/ 4828482 h 6685267"/>
                <a:gd name="connsiteX40" fmla="*/ 825972 w 5822102"/>
                <a:gd name="connsiteY40" fmla="*/ 4956104 h 6685267"/>
                <a:gd name="connsiteX41" fmla="*/ 926506 w 5822102"/>
                <a:gd name="connsiteY41" fmla="*/ 5085347 h 6685267"/>
                <a:gd name="connsiteX42" fmla="*/ 1027040 w 5822102"/>
                <a:gd name="connsiteY42" fmla="*/ 5210191 h 6685267"/>
                <a:gd name="connsiteX43" fmla="*/ 1132110 w 5822102"/>
                <a:gd name="connsiteY43" fmla="*/ 5330748 h 6685267"/>
                <a:gd name="connsiteX44" fmla="*/ 1354880 w 5822102"/>
                <a:gd name="connsiteY44" fmla="*/ 5558083 h 6685267"/>
                <a:gd name="connsiteX45" fmla="*/ 1855220 w 5822102"/>
                <a:gd name="connsiteY45" fmla="*/ 5937591 h 6685267"/>
                <a:gd name="connsiteX46" fmla="*/ 2131810 w 5822102"/>
                <a:gd name="connsiteY46" fmla="*/ 6080268 h 6685267"/>
                <a:gd name="connsiteX47" fmla="*/ 2423726 w 5822102"/>
                <a:gd name="connsiteY47" fmla="*/ 6188087 h 6685267"/>
                <a:gd name="connsiteX48" fmla="*/ 2727780 w 5822102"/>
                <a:gd name="connsiteY48" fmla="*/ 6262552 h 6685267"/>
                <a:gd name="connsiteX49" fmla="*/ 3041276 w 5822102"/>
                <a:gd name="connsiteY49" fmla="*/ 6304245 h 6685267"/>
                <a:gd name="connsiteX50" fmla="*/ 3360532 w 5822102"/>
                <a:gd name="connsiteY50" fmla="*/ 6317331 h 6685267"/>
                <a:gd name="connsiteX51" fmla="*/ 3439855 w 5822102"/>
                <a:gd name="connsiteY51" fmla="*/ 6316751 h 6685267"/>
                <a:gd name="connsiteX52" fmla="*/ 3478721 w 5822102"/>
                <a:gd name="connsiteY52" fmla="*/ 6315826 h 6685267"/>
                <a:gd name="connsiteX53" fmla="*/ 3517463 w 5822102"/>
                <a:gd name="connsiteY53" fmla="*/ 6313971 h 6685267"/>
                <a:gd name="connsiteX54" fmla="*/ 3671452 w 5822102"/>
                <a:gd name="connsiteY54" fmla="*/ 6301233 h 6685267"/>
                <a:gd name="connsiteX55" fmla="*/ 4265460 w 5822102"/>
                <a:gd name="connsiteY55" fmla="*/ 6149638 h 6685267"/>
                <a:gd name="connsiteX56" fmla="*/ 4546587 w 5822102"/>
                <a:gd name="connsiteY56" fmla="*/ 6018079 h 6685267"/>
                <a:gd name="connsiteX57" fmla="*/ 4818030 w 5822102"/>
                <a:gd name="connsiteY57" fmla="*/ 5858029 h 6685267"/>
                <a:gd name="connsiteX58" fmla="*/ 5081870 w 5822102"/>
                <a:gd name="connsiteY58" fmla="*/ 5676903 h 6685267"/>
                <a:gd name="connsiteX59" fmla="*/ 5212073 w 5822102"/>
                <a:gd name="connsiteY59" fmla="*/ 5581013 h 6685267"/>
                <a:gd name="connsiteX60" fmla="*/ 5343625 w 5822102"/>
                <a:gd name="connsiteY60" fmla="*/ 5481533 h 6685267"/>
                <a:gd name="connsiteX61" fmla="*/ 5610378 w 5822102"/>
                <a:gd name="connsiteY61" fmla="*/ 5284425 h 6685267"/>
                <a:gd name="connsiteX62" fmla="*/ 5822102 w 5822102"/>
                <a:gd name="connsiteY62" fmla="*/ 5126414 h 6685267"/>
                <a:gd name="connsiteX63" fmla="*/ 5822102 w 5822102"/>
                <a:gd name="connsiteY63" fmla="*/ 5556641 h 6685267"/>
                <a:gd name="connsiteX64" fmla="*/ 5576325 w 5822102"/>
                <a:gd name="connsiteY64" fmla="*/ 5749979 h 6685267"/>
                <a:gd name="connsiteX65" fmla="*/ 5447715 w 5822102"/>
                <a:gd name="connsiteY65" fmla="*/ 5852818 h 6685267"/>
                <a:gd name="connsiteX66" fmla="*/ 5315059 w 5822102"/>
                <a:gd name="connsiteY66" fmla="*/ 5956236 h 6685267"/>
                <a:gd name="connsiteX67" fmla="*/ 5038468 w 5822102"/>
                <a:gd name="connsiteY67" fmla="*/ 6155776 h 6685267"/>
                <a:gd name="connsiteX68" fmla="*/ 4741892 w 5822102"/>
                <a:gd name="connsiteY68" fmla="*/ 6338292 h 6685267"/>
                <a:gd name="connsiteX69" fmla="*/ 4420920 w 5822102"/>
                <a:gd name="connsiteY69" fmla="*/ 6492203 h 6685267"/>
                <a:gd name="connsiteX70" fmla="*/ 3717672 w 5822102"/>
                <a:gd name="connsiteY70" fmla="*/ 6670434 h 6685267"/>
                <a:gd name="connsiteX71" fmla="*/ 3535853 w 5822102"/>
                <a:gd name="connsiteY71" fmla="*/ 6683289 h 6685267"/>
                <a:gd name="connsiteX72" fmla="*/ 3490367 w 5822102"/>
                <a:gd name="connsiteY72" fmla="*/ 6684910 h 6685267"/>
                <a:gd name="connsiteX73" fmla="*/ 3445005 w 5822102"/>
                <a:gd name="connsiteY73" fmla="*/ 6685142 h 6685267"/>
                <a:gd name="connsiteX74" fmla="*/ 3355872 w 5822102"/>
                <a:gd name="connsiteY74" fmla="*/ 6684100 h 6685267"/>
                <a:gd name="connsiteX75" fmla="*/ 3179203 w 5822102"/>
                <a:gd name="connsiteY75" fmla="*/ 6677150 h 6685267"/>
                <a:gd name="connsiteX76" fmla="*/ 3002410 w 5822102"/>
                <a:gd name="connsiteY76" fmla="*/ 6661169 h 6685267"/>
                <a:gd name="connsiteX77" fmla="*/ 2650296 w 5822102"/>
                <a:gd name="connsiteY77" fmla="*/ 6604191 h 6685267"/>
                <a:gd name="connsiteX78" fmla="*/ 2306028 w 5822102"/>
                <a:gd name="connsiteY78" fmla="*/ 6505869 h 6685267"/>
                <a:gd name="connsiteX79" fmla="*/ 1978803 w 5822102"/>
                <a:gd name="connsiteY79" fmla="*/ 6363307 h 6685267"/>
                <a:gd name="connsiteX80" fmla="*/ 1678428 w 5822102"/>
                <a:gd name="connsiteY80" fmla="*/ 6177779 h 6685267"/>
                <a:gd name="connsiteX81" fmla="*/ 1175880 w 5822102"/>
                <a:gd name="connsiteY81" fmla="*/ 5710373 h 6685267"/>
                <a:gd name="connsiteX82" fmla="*/ 971502 w 5822102"/>
                <a:gd name="connsiteY82" fmla="*/ 5445399 h 6685267"/>
                <a:gd name="connsiteX83" fmla="*/ 790909 w 5822102"/>
                <a:gd name="connsiteY83" fmla="*/ 5169078 h 6685267"/>
                <a:gd name="connsiteX84" fmla="*/ 706680 w 5822102"/>
                <a:gd name="connsiteY84" fmla="*/ 5031959 h 6685267"/>
                <a:gd name="connsiteX85" fmla="*/ 619143 w 5822102"/>
                <a:gd name="connsiteY85" fmla="*/ 4897157 h 6685267"/>
                <a:gd name="connsiteX86" fmla="*/ 436465 w 5822102"/>
                <a:gd name="connsiteY86" fmla="*/ 4628710 h 6685267"/>
                <a:gd name="connsiteX87" fmla="*/ 347088 w 5822102"/>
                <a:gd name="connsiteY87" fmla="*/ 4492171 h 6685267"/>
                <a:gd name="connsiteX88" fmla="*/ 262001 w 5822102"/>
                <a:gd name="connsiteY88" fmla="*/ 4352619 h 6685267"/>
                <a:gd name="connsiteX89" fmla="*/ 118679 w 5822102"/>
                <a:gd name="connsiteY89" fmla="*/ 4059853 h 6685267"/>
                <a:gd name="connsiteX90" fmla="*/ 28322 w 5822102"/>
                <a:gd name="connsiteY90" fmla="*/ 3749136 h 6685267"/>
                <a:gd name="connsiteX91" fmla="*/ 0 w 5822102"/>
                <a:gd name="connsiteY91" fmla="*/ 3428922 h 6685267"/>
                <a:gd name="connsiteX92" fmla="*/ 253052 w 5822102"/>
                <a:gd name="connsiteY92" fmla="*/ 2174356 h 6685267"/>
                <a:gd name="connsiteX93" fmla="*/ 389141 w 5822102"/>
                <a:gd name="connsiteY93" fmla="*/ 1877652 h 6685267"/>
                <a:gd name="connsiteX94" fmla="*/ 552079 w 5822102"/>
                <a:gd name="connsiteY94" fmla="*/ 1591834 h 6685267"/>
                <a:gd name="connsiteX95" fmla="*/ 954950 w 5822102"/>
                <a:gd name="connsiteY95" fmla="*/ 1061773 h 6685267"/>
                <a:gd name="connsiteX96" fmla="*/ 1192922 w 5822102"/>
                <a:gd name="connsiteY96" fmla="*/ 822626 h 6685267"/>
                <a:gd name="connsiteX97" fmla="*/ 1255939 w 5822102"/>
                <a:gd name="connsiteY97" fmla="*/ 765880 h 6685267"/>
                <a:gd name="connsiteX98" fmla="*/ 1320183 w 5822102"/>
                <a:gd name="connsiteY98" fmla="*/ 710291 h 6685267"/>
                <a:gd name="connsiteX99" fmla="*/ 1452961 w 5822102"/>
                <a:gd name="connsiteY99" fmla="*/ 603514 h 6685267"/>
                <a:gd name="connsiteX100" fmla="*/ 2033360 w 5822102"/>
                <a:gd name="connsiteY100" fmla="*/ 235818 h 6685267"/>
                <a:gd name="connsiteX101" fmla="*/ 2512513 w 5822102"/>
                <a:gd name="connsiteY101" fmla="*/ 30012 h 668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5822102" h="6685267">
                  <a:moveTo>
                    <a:pt x="2605444" y="0"/>
                  </a:moveTo>
                  <a:lnTo>
                    <a:pt x="4757391" y="0"/>
                  </a:lnTo>
                  <a:lnTo>
                    <a:pt x="4913680" y="56274"/>
                  </a:lnTo>
                  <a:cubicBezTo>
                    <a:pt x="5074659" y="119278"/>
                    <a:pt x="5229483" y="195083"/>
                    <a:pt x="5376238" y="282027"/>
                  </a:cubicBezTo>
                  <a:cubicBezTo>
                    <a:pt x="5474014" y="340105"/>
                    <a:pt x="5568080" y="403280"/>
                    <a:pt x="5658024" y="471014"/>
                  </a:cubicBezTo>
                  <a:lnTo>
                    <a:pt x="5822102" y="609109"/>
                  </a:lnTo>
                  <a:lnTo>
                    <a:pt x="5822102" y="760697"/>
                  </a:lnTo>
                  <a:lnTo>
                    <a:pt x="5707785" y="666601"/>
                  </a:lnTo>
                  <a:cubicBezTo>
                    <a:pt x="5665273" y="633682"/>
                    <a:pt x="5621749" y="602008"/>
                    <a:pt x="5577306" y="571666"/>
                  </a:cubicBezTo>
                  <a:cubicBezTo>
                    <a:pt x="5487929" y="511562"/>
                    <a:pt x="5395118" y="456089"/>
                    <a:pt x="5298630" y="407449"/>
                  </a:cubicBezTo>
                  <a:cubicBezTo>
                    <a:pt x="5106266" y="309010"/>
                    <a:pt x="4901153" y="235355"/>
                    <a:pt x="4690768" y="184979"/>
                  </a:cubicBezTo>
                  <a:cubicBezTo>
                    <a:pt x="4480382" y="134486"/>
                    <a:pt x="4264724" y="106807"/>
                    <a:pt x="4048577" y="99280"/>
                  </a:cubicBezTo>
                  <a:cubicBezTo>
                    <a:pt x="3832182" y="90709"/>
                    <a:pt x="3617997" y="102290"/>
                    <a:pt x="3405404" y="131937"/>
                  </a:cubicBezTo>
                  <a:cubicBezTo>
                    <a:pt x="3299353" y="147340"/>
                    <a:pt x="3193915" y="166449"/>
                    <a:pt x="3089702" y="190190"/>
                  </a:cubicBezTo>
                  <a:cubicBezTo>
                    <a:pt x="2985491" y="214278"/>
                    <a:pt x="2882137" y="241725"/>
                    <a:pt x="2780132" y="273457"/>
                  </a:cubicBezTo>
                  <a:cubicBezTo>
                    <a:pt x="2678126" y="305073"/>
                    <a:pt x="2577348" y="340510"/>
                    <a:pt x="2478040" y="379654"/>
                  </a:cubicBezTo>
                  <a:cubicBezTo>
                    <a:pt x="2378854" y="418914"/>
                    <a:pt x="2281017" y="461763"/>
                    <a:pt x="2184897" y="507972"/>
                  </a:cubicBezTo>
                  <a:cubicBezTo>
                    <a:pt x="1992657" y="600271"/>
                    <a:pt x="1806791" y="705542"/>
                    <a:pt x="1629141" y="823205"/>
                  </a:cubicBezTo>
                  <a:cubicBezTo>
                    <a:pt x="1584882" y="852736"/>
                    <a:pt x="1540745" y="882731"/>
                    <a:pt x="1497711" y="914000"/>
                  </a:cubicBezTo>
                  <a:cubicBezTo>
                    <a:pt x="1475888" y="929286"/>
                    <a:pt x="1454555" y="945153"/>
                    <a:pt x="1433099" y="960903"/>
                  </a:cubicBezTo>
                  <a:cubicBezTo>
                    <a:pt x="1411521" y="976537"/>
                    <a:pt x="1390311" y="992634"/>
                    <a:pt x="1369346" y="1008963"/>
                  </a:cubicBezTo>
                  <a:cubicBezTo>
                    <a:pt x="1285119" y="1074165"/>
                    <a:pt x="1202730" y="1141797"/>
                    <a:pt x="1123406" y="1212905"/>
                  </a:cubicBezTo>
                  <a:cubicBezTo>
                    <a:pt x="964391" y="1354656"/>
                    <a:pt x="816900" y="1509261"/>
                    <a:pt x="684367" y="1675564"/>
                  </a:cubicBezTo>
                  <a:cubicBezTo>
                    <a:pt x="618161" y="1758716"/>
                    <a:pt x="555512" y="1844763"/>
                    <a:pt x="497153" y="1933588"/>
                  </a:cubicBezTo>
                  <a:cubicBezTo>
                    <a:pt x="439775" y="2022877"/>
                    <a:pt x="385584" y="2114367"/>
                    <a:pt x="337770" y="2208983"/>
                  </a:cubicBezTo>
                  <a:cubicBezTo>
                    <a:pt x="325388" y="2232493"/>
                    <a:pt x="313862" y="2256349"/>
                    <a:pt x="302461" y="2280207"/>
                  </a:cubicBezTo>
                  <a:lnTo>
                    <a:pt x="285296" y="2316107"/>
                  </a:lnTo>
                  <a:lnTo>
                    <a:pt x="268991" y="2352355"/>
                  </a:lnTo>
                  <a:cubicBezTo>
                    <a:pt x="258324" y="2376560"/>
                    <a:pt x="247535" y="2400764"/>
                    <a:pt x="237849" y="2425432"/>
                  </a:cubicBezTo>
                  <a:cubicBezTo>
                    <a:pt x="228163" y="2450099"/>
                    <a:pt x="217498" y="2474419"/>
                    <a:pt x="208670" y="2499319"/>
                  </a:cubicBezTo>
                  <a:cubicBezTo>
                    <a:pt x="170909" y="2598219"/>
                    <a:pt x="138908" y="2699206"/>
                    <a:pt x="113775" y="2801929"/>
                  </a:cubicBezTo>
                  <a:cubicBezTo>
                    <a:pt x="62773" y="3006911"/>
                    <a:pt x="36659" y="3217917"/>
                    <a:pt x="36781" y="3428922"/>
                  </a:cubicBezTo>
                  <a:cubicBezTo>
                    <a:pt x="37394" y="3534078"/>
                    <a:pt x="47816" y="3639001"/>
                    <a:pt x="69148" y="3741955"/>
                  </a:cubicBezTo>
                  <a:cubicBezTo>
                    <a:pt x="91585" y="3844679"/>
                    <a:pt x="124074" y="3945202"/>
                    <a:pt x="167966" y="4041323"/>
                  </a:cubicBezTo>
                  <a:cubicBezTo>
                    <a:pt x="178387" y="4065528"/>
                    <a:pt x="190525" y="4089153"/>
                    <a:pt x="202049" y="4112894"/>
                  </a:cubicBezTo>
                  <a:cubicBezTo>
                    <a:pt x="214555" y="4136288"/>
                    <a:pt x="226447" y="4159912"/>
                    <a:pt x="239933" y="4182843"/>
                  </a:cubicBezTo>
                  <a:cubicBezTo>
                    <a:pt x="265680" y="4229167"/>
                    <a:pt x="294368" y="4274101"/>
                    <a:pt x="323916" y="4318456"/>
                  </a:cubicBezTo>
                  <a:cubicBezTo>
                    <a:pt x="353341" y="4362927"/>
                    <a:pt x="384849" y="4406240"/>
                    <a:pt x="416604" y="4449436"/>
                  </a:cubicBezTo>
                  <a:cubicBezTo>
                    <a:pt x="448847" y="4492286"/>
                    <a:pt x="482319" y="4534557"/>
                    <a:pt x="515911" y="4576711"/>
                  </a:cubicBezTo>
                  <a:cubicBezTo>
                    <a:pt x="583219" y="4661137"/>
                    <a:pt x="653594" y="4743825"/>
                    <a:pt x="722619" y="4828482"/>
                  </a:cubicBezTo>
                  <a:cubicBezTo>
                    <a:pt x="757315" y="4870637"/>
                    <a:pt x="791889" y="4913138"/>
                    <a:pt x="825972" y="4956104"/>
                  </a:cubicBezTo>
                  <a:cubicBezTo>
                    <a:pt x="859934" y="4998722"/>
                    <a:pt x="893649" y="5044004"/>
                    <a:pt x="926506" y="5085347"/>
                  </a:cubicBezTo>
                  <a:cubicBezTo>
                    <a:pt x="959119" y="5127734"/>
                    <a:pt x="993324" y="5168847"/>
                    <a:pt x="1027040" y="5210191"/>
                  </a:cubicBezTo>
                  <a:cubicBezTo>
                    <a:pt x="1061737" y="5250840"/>
                    <a:pt x="1096188" y="5291488"/>
                    <a:pt x="1132110" y="5330748"/>
                  </a:cubicBezTo>
                  <a:cubicBezTo>
                    <a:pt x="1203465" y="5409731"/>
                    <a:pt x="1277639" y="5485818"/>
                    <a:pt x="1354880" y="5558083"/>
                  </a:cubicBezTo>
                  <a:cubicBezTo>
                    <a:pt x="1509603" y="5702266"/>
                    <a:pt x="1676588" y="5830930"/>
                    <a:pt x="1855220" y="5937591"/>
                  </a:cubicBezTo>
                  <a:cubicBezTo>
                    <a:pt x="1944720" y="5990632"/>
                    <a:pt x="2036549" y="6039272"/>
                    <a:pt x="2131810" y="6080268"/>
                  </a:cubicBezTo>
                  <a:cubicBezTo>
                    <a:pt x="2226460" y="6122423"/>
                    <a:pt x="2324173" y="6157977"/>
                    <a:pt x="2423726" y="6188087"/>
                  </a:cubicBezTo>
                  <a:cubicBezTo>
                    <a:pt x="2523280" y="6218313"/>
                    <a:pt x="2624794" y="6242749"/>
                    <a:pt x="2727780" y="6262552"/>
                  </a:cubicBezTo>
                  <a:cubicBezTo>
                    <a:pt x="2830890" y="6282008"/>
                    <a:pt x="2935714" y="6295326"/>
                    <a:pt x="3041276" y="6304245"/>
                  </a:cubicBezTo>
                  <a:cubicBezTo>
                    <a:pt x="3146836" y="6313277"/>
                    <a:pt x="3253499" y="6317215"/>
                    <a:pt x="3360532" y="6317331"/>
                  </a:cubicBezTo>
                  <a:cubicBezTo>
                    <a:pt x="3387259" y="6317331"/>
                    <a:pt x="3414354" y="6317794"/>
                    <a:pt x="3439855" y="6316751"/>
                  </a:cubicBezTo>
                  <a:lnTo>
                    <a:pt x="3478721" y="6315826"/>
                  </a:lnTo>
                  <a:lnTo>
                    <a:pt x="3517463" y="6313971"/>
                  </a:lnTo>
                  <a:cubicBezTo>
                    <a:pt x="3569078" y="6311772"/>
                    <a:pt x="3620449" y="6306907"/>
                    <a:pt x="3671452" y="6301233"/>
                  </a:cubicBezTo>
                  <a:cubicBezTo>
                    <a:pt x="3875707" y="6277608"/>
                    <a:pt x="4074445" y="6225841"/>
                    <a:pt x="4265460" y="6149638"/>
                  </a:cubicBezTo>
                  <a:cubicBezTo>
                    <a:pt x="4361212" y="6111884"/>
                    <a:pt x="4454636" y="6067065"/>
                    <a:pt x="4546587" y="6018079"/>
                  </a:cubicBezTo>
                  <a:cubicBezTo>
                    <a:pt x="4638662" y="5969322"/>
                    <a:pt x="4729020" y="5915240"/>
                    <a:pt x="4818030" y="5858029"/>
                  </a:cubicBezTo>
                  <a:cubicBezTo>
                    <a:pt x="4907038" y="5800703"/>
                    <a:pt x="4994577" y="5739672"/>
                    <a:pt x="5081870" y="5676903"/>
                  </a:cubicBezTo>
                  <a:cubicBezTo>
                    <a:pt x="5125392" y="5645519"/>
                    <a:pt x="5168794" y="5613324"/>
                    <a:pt x="5212073" y="5581013"/>
                  </a:cubicBezTo>
                  <a:lnTo>
                    <a:pt x="5343625" y="5481533"/>
                  </a:lnTo>
                  <a:cubicBezTo>
                    <a:pt x="5432696" y="5414768"/>
                    <a:pt x="5521951" y="5349452"/>
                    <a:pt x="5610378" y="5284425"/>
                  </a:cubicBezTo>
                  <a:lnTo>
                    <a:pt x="5822102" y="5126414"/>
                  </a:lnTo>
                  <a:lnTo>
                    <a:pt x="5822102" y="5556641"/>
                  </a:lnTo>
                  <a:lnTo>
                    <a:pt x="5576325" y="5749979"/>
                  </a:lnTo>
                  <a:lnTo>
                    <a:pt x="5447715" y="5852818"/>
                  </a:lnTo>
                  <a:cubicBezTo>
                    <a:pt x="5403945" y="5887445"/>
                    <a:pt x="5359932" y="5922073"/>
                    <a:pt x="5315059" y="5956236"/>
                  </a:cubicBezTo>
                  <a:cubicBezTo>
                    <a:pt x="5225682" y="6024680"/>
                    <a:pt x="5133976" y="6091734"/>
                    <a:pt x="5038468" y="6155776"/>
                  </a:cubicBezTo>
                  <a:cubicBezTo>
                    <a:pt x="4943084" y="6219703"/>
                    <a:pt x="4845002" y="6281777"/>
                    <a:pt x="4741892" y="6338292"/>
                  </a:cubicBezTo>
                  <a:cubicBezTo>
                    <a:pt x="4638784" y="6394692"/>
                    <a:pt x="4532120" y="6447038"/>
                    <a:pt x="4420920" y="6492203"/>
                  </a:cubicBezTo>
                  <a:cubicBezTo>
                    <a:pt x="4199255" y="6583693"/>
                    <a:pt x="3959813" y="6644840"/>
                    <a:pt x="3717672" y="6670434"/>
                  </a:cubicBezTo>
                  <a:cubicBezTo>
                    <a:pt x="3657106" y="6676456"/>
                    <a:pt x="3596419" y="6681321"/>
                    <a:pt x="3535853" y="6683289"/>
                  </a:cubicBezTo>
                  <a:lnTo>
                    <a:pt x="3490367" y="6684910"/>
                  </a:lnTo>
                  <a:lnTo>
                    <a:pt x="3445005" y="6685142"/>
                  </a:lnTo>
                  <a:cubicBezTo>
                    <a:pt x="3414354" y="6685605"/>
                    <a:pt x="3385297" y="6684679"/>
                    <a:pt x="3355872" y="6684100"/>
                  </a:cubicBezTo>
                  <a:cubicBezTo>
                    <a:pt x="3297146" y="6683405"/>
                    <a:pt x="3238052" y="6680047"/>
                    <a:pt x="3179203" y="6677150"/>
                  </a:cubicBezTo>
                  <a:cubicBezTo>
                    <a:pt x="3120232" y="6672519"/>
                    <a:pt x="3061259" y="6668233"/>
                    <a:pt x="3002410" y="6661169"/>
                  </a:cubicBezTo>
                  <a:cubicBezTo>
                    <a:pt x="2884589" y="6647851"/>
                    <a:pt x="2766891" y="6629669"/>
                    <a:pt x="2650296" y="6604191"/>
                  </a:cubicBezTo>
                  <a:cubicBezTo>
                    <a:pt x="2533702" y="6578713"/>
                    <a:pt x="2418456" y="6545938"/>
                    <a:pt x="2306028" y="6505869"/>
                  </a:cubicBezTo>
                  <a:cubicBezTo>
                    <a:pt x="2193602" y="6465683"/>
                    <a:pt x="2084118" y="6417738"/>
                    <a:pt x="1978803" y="6363307"/>
                  </a:cubicBezTo>
                  <a:cubicBezTo>
                    <a:pt x="1873855" y="6308066"/>
                    <a:pt x="1773077" y="6246340"/>
                    <a:pt x="1678428" y="6177779"/>
                  </a:cubicBezTo>
                  <a:cubicBezTo>
                    <a:pt x="1488393" y="6041356"/>
                    <a:pt x="1321900" y="5881423"/>
                    <a:pt x="1175880" y="5710373"/>
                  </a:cubicBezTo>
                  <a:cubicBezTo>
                    <a:pt x="1103177" y="5624441"/>
                    <a:pt x="1035501" y="5535732"/>
                    <a:pt x="971502" y="5445399"/>
                  </a:cubicBezTo>
                  <a:cubicBezTo>
                    <a:pt x="907380" y="5355069"/>
                    <a:pt x="847550" y="5262768"/>
                    <a:pt x="790909" y="5169078"/>
                  </a:cubicBezTo>
                  <a:cubicBezTo>
                    <a:pt x="761974" y="5121712"/>
                    <a:pt x="735492" y="5077357"/>
                    <a:pt x="706680" y="5031959"/>
                  </a:cubicBezTo>
                  <a:cubicBezTo>
                    <a:pt x="678114" y="4986910"/>
                    <a:pt x="649058" y="4941860"/>
                    <a:pt x="619143" y="4897157"/>
                  </a:cubicBezTo>
                  <a:lnTo>
                    <a:pt x="436465" y="4628710"/>
                  </a:lnTo>
                  <a:cubicBezTo>
                    <a:pt x="406182" y="4583544"/>
                    <a:pt x="376267" y="4538147"/>
                    <a:pt x="347088" y="4492171"/>
                  </a:cubicBezTo>
                  <a:cubicBezTo>
                    <a:pt x="317908" y="4446194"/>
                    <a:pt x="288974" y="4400102"/>
                    <a:pt x="262001" y="4352619"/>
                  </a:cubicBezTo>
                  <a:cubicBezTo>
                    <a:pt x="207934" y="4258119"/>
                    <a:pt x="158280" y="4160840"/>
                    <a:pt x="118679" y="4059853"/>
                  </a:cubicBezTo>
                  <a:cubicBezTo>
                    <a:pt x="78343" y="3959214"/>
                    <a:pt x="48429" y="3854870"/>
                    <a:pt x="28322" y="3749136"/>
                  </a:cubicBezTo>
                  <a:cubicBezTo>
                    <a:pt x="9073" y="3643402"/>
                    <a:pt x="0" y="3536046"/>
                    <a:pt x="0" y="3428922"/>
                  </a:cubicBezTo>
                  <a:cubicBezTo>
                    <a:pt x="1594" y="3001816"/>
                    <a:pt x="89010" y="2575868"/>
                    <a:pt x="253052" y="2174356"/>
                  </a:cubicBezTo>
                  <a:cubicBezTo>
                    <a:pt x="294246" y="2074066"/>
                    <a:pt x="338873" y="1974700"/>
                    <a:pt x="389141" y="1877652"/>
                  </a:cubicBezTo>
                  <a:cubicBezTo>
                    <a:pt x="438672" y="1780256"/>
                    <a:pt x="493230" y="1684945"/>
                    <a:pt x="552079" y="1591834"/>
                  </a:cubicBezTo>
                  <a:cubicBezTo>
                    <a:pt x="669900" y="1405728"/>
                    <a:pt x="804394" y="1227729"/>
                    <a:pt x="954950" y="1061773"/>
                  </a:cubicBezTo>
                  <a:cubicBezTo>
                    <a:pt x="1030597" y="979085"/>
                    <a:pt x="1109552" y="898829"/>
                    <a:pt x="1192922" y="822626"/>
                  </a:cubicBezTo>
                  <a:cubicBezTo>
                    <a:pt x="1213642" y="803402"/>
                    <a:pt x="1234483" y="784409"/>
                    <a:pt x="1255939" y="765880"/>
                  </a:cubicBezTo>
                  <a:cubicBezTo>
                    <a:pt x="1277273" y="747234"/>
                    <a:pt x="1298237" y="728241"/>
                    <a:pt x="1320183" y="710291"/>
                  </a:cubicBezTo>
                  <a:cubicBezTo>
                    <a:pt x="1363585" y="673811"/>
                    <a:pt x="1408088" y="638489"/>
                    <a:pt x="1452961" y="603514"/>
                  </a:cubicBezTo>
                  <a:cubicBezTo>
                    <a:pt x="1633310" y="464543"/>
                    <a:pt x="1828125" y="341437"/>
                    <a:pt x="2033360" y="235818"/>
                  </a:cubicBezTo>
                  <a:cubicBezTo>
                    <a:pt x="2187242" y="156561"/>
                    <a:pt x="2347554" y="87597"/>
                    <a:pt x="2512513" y="3001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5102EBE-A80F-4CFF-B1DD-941EF9728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04998" y="98659"/>
              <a:ext cx="5774333" cy="6315453"/>
            </a:xfrm>
            <a:custGeom>
              <a:avLst/>
              <a:gdLst>
                <a:gd name="connsiteX0" fmla="*/ 3707237 w 5774333"/>
                <a:gd name="connsiteY0" fmla="*/ 1489 h 6315453"/>
                <a:gd name="connsiteX1" fmla="*/ 4037665 w 5774333"/>
                <a:gd name="connsiteY1" fmla="*/ 6121 h 6315453"/>
                <a:gd name="connsiteX2" fmla="*/ 4692239 w 5774333"/>
                <a:gd name="connsiteY2" fmla="*/ 102128 h 6315453"/>
                <a:gd name="connsiteX3" fmla="*/ 5315059 w 5774333"/>
                <a:gd name="connsiteY3" fmla="*/ 324945 h 6315453"/>
                <a:gd name="connsiteX4" fmla="*/ 5738325 w 5774333"/>
                <a:gd name="connsiteY4" fmla="*/ 578286 h 6315453"/>
                <a:gd name="connsiteX5" fmla="*/ 5774333 w 5774333"/>
                <a:gd name="connsiteY5" fmla="*/ 606551 h 6315453"/>
                <a:gd name="connsiteX6" fmla="*/ 5774333 w 5774333"/>
                <a:gd name="connsiteY6" fmla="*/ 975490 h 6315453"/>
                <a:gd name="connsiteX7" fmla="*/ 5676001 w 5774333"/>
                <a:gd name="connsiteY7" fmla="*/ 889749 h 6315453"/>
                <a:gd name="connsiteX8" fmla="*/ 5177132 w 5774333"/>
                <a:gd name="connsiteY8" fmla="*/ 581926 h 6315453"/>
                <a:gd name="connsiteX9" fmla="*/ 4615735 w 5774333"/>
                <a:gd name="connsiteY9" fmla="*/ 388640 h 6315453"/>
                <a:gd name="connsiteX10" fmla="*/ 4020010 w 5774333"/>
                <a:gd name="connsiteY10" fmla="*/ 308500 h 6315453"/>
                <a:gd name="connsiteX11" fmla="*/ 3416315 w 5774333"/>
                <a:gd name="connsiteY11" fmla="*/ 328882 h 6315453"/>
                <a:gd name="connsiteX12" fmla="*/ 2823779 w 5774333"/>
                <a:gd name="connsiteY12" fmla="*/ 446545 h 6315453"/>
                <a:gd name="connsiteX13" fmla="*/ 2256987 w 5774333"/>
                <a:gd name="connsiteY13" fmla="*/ 651296 h 6315453"/>
                <a:gd name="connsiteX14" fmla="*/ 1244169 w 5774333"/>
                <a:gd name="connsiteY14" fmla="*/ 1280374 h 6315453"/>
                <a:gd name="connsiteX15" fmla="*/ 830141 w 5774333"/>
                <a:gd name="connsiteY15" fmla="*/ 1700184 h 6315453"/>
                <a:gd name="connsiteX16" fmla="*/ 502792 w 5774333"/>
                <a:gd name="connsiteY16" fmla="*/ 2182300 h 6315453"/>
                <a:gd name="connsiteX17" fmla="*/ 280637 w 5774333"/>
                <a:gd name="connsiteY17" fmla="*/ 2715256 h 6315453"/>
                <a:gd name="connsiteX18" fmla="*/ 199843 w 5774333"/>
                <a:gd name="connsiteY18" fmla="*/ 3283418 h 6315453"/>
                <a:gd name="connsiteX19" fmla="*/ 233926 w 5774333"/>
                <a:gd name="connsiteY19" fmla="*/ 3561593 h 6315453"/>
                <a:gd name="connsiteX20" fmla="*/ 334582 w 5774333"/>
                <a:gd name="connsiteY20" fmla="*/ 3821816 h 6315453"/>
                <a:gd name="connsiteX21" fmla="*/ 404834 w 5774333"/>
                <a:gd name="connsiteY21" fmla="*/ 3944343 h 6315453"/>
                <a:gd name="connsiteX22" fmla="*/ 485506 w 5774333"/>
                <a:gd name="connsiteY22" fmla="*/ 4062932 h 6315453"/>
                <a:gd name="connsiteX23" fmla="*/ 671861 w 5774333"/>
                <a:gd name="connsiteY23" fmla="*/ 4292120 h 6315453"/>
                <a:gd name="connsiteX24" fmla="*/ 873542 w 5774333"/>
                <a:gd name="connsiteY24" fmla="*/ 4523044 h 6315453"/>
                <a:gd name="connsiteX25" fmla="*/ 973831 w 5774333"/>
                <a:gd name="connsiteY25" fmla="*/ 4643601 h 6315453"/>
                <a:gd name="connsiteX26" fmla="*/ 1022014 w 5774333"/>
                <a:gd name="connsiteY26" fmla="*/ 4702780 h 6315453"/>
                <a:gd name="connsiteX27" fmla="*/ 1069215 w 5774333"/>
                <a:gd name="connsiteY27" fmla="*/ 4759411 h 6315453"/>
                <a:gd name="connsiteX28" fmla="*/ 1474784 w 5774333"/>
                <a:gd name="connsiteY28" fmla="*/ 5177948 h 6315453"/>
                <a:gd name="connsiteX29" fmla="*/ 1690442 w 5774333"/>
                <a:gd name="connsiteY29" fmla="*/ 5366255 h 6315453"/>
                <a:gd name="connsiteX30" fmla="*/ 1916276 w 5774333"/>
                <a:gd name="connsiteY30" fmla="*/ 5539852 h 6315453"/>
                <a:gd name="connsiteX31" fmla="*/ 2420784 w 5774333"/>
                <a:gd name="connsiteY31" fmla="*/ 5814437 h 6315453"/>
                <a:gd name="connsiteX32" fmla="*/ 2703015 w 5774333"/>
                <a:gd name="connsiteY32" fmla="*/ 5892029 h 6315453"/>
                <a:gd name="connsiteX33" fmla="*/ 2775350 w 5774333"/>
                <a:gd name="connsiteY33" fmla="*/ 5905695 h 6315453"/>
                <a:gd name="connsiteX34" fmla="*/ 2848299 w 5774333"/>
                <a:gd name="connsiteY34" fmla="*/ 5917161 h 6315453"/>
                <a:gd name="connsiteX35" fmla="*/ 2995544 w 5774333"/>
                <a:gd name="connsiteY35" fmla="*/ 5933605 h 6315453"/>
                <a:gd name="connsiteX36" fmla="*/ 3069596 w 5774333"/>
                <a:gd name="connsiteY36" fmla="*/ 5938933 h 6315453"/>
                <a:gd name="connsiteX37" fmla="*/ 3143894 w 5774333"/>
                <a:gd name="connsiteY37" fmla="*/ 5942639 h 6315453"/>
                <a:gd name="connsiteX38" fmla="*/ 3218436 w 5774333"/>
                <a:gd name="connsiteY38" fmla="*/ 5944260 h 6315453"/>
                <a:gd name="connsiteX39" fmla="*/ 3293101 w 5774333"/>
                <a:gd name="connsiteY39" fmla="*/ 5943913 h 6315453"/>
                <a:gd name="connsiteX40" fmla="*/ 3330494 w 5774333"/>
                <a:gd name="connsiteY40" fmla="*/ 5943565 h 6315453"/>
                <a:gd name="connsiteX41" fmla="*/ 3366540 w 5774333"/>
                <a:gd name="connsiteY41" fmla="*/ 5942059 h 6315453"/>
                <a:gd name="connsiteX42" fmla="*/ 3402462 w 5774333"/>
                <a:gd name="connsiteY42" fmla="*/ 5940323 h 6315453"/>
                <a:gd name="connsiteX43" fmla="*/ 3438262 w 5774333"/>
                <a:gd name="connsiteY43" fmla="*/ 5937543 h 6315453"/>
                <a:gd name="connsiteX44" fmla="*/ 3580236 w 5774333"/>
                <a:gd name="connsiteY44" fmla="*/ 5920982 h 6315453"/>
                <a:gd name="connsiteX45" fmla="*/ 4121034 w 5774333"/>
                <a:gd name="connsiteY45" fmla="*/ 5753290 h 6315453"/>
                <a:gd name="connsiteX46" fmla="*/ 4620639 w 5774333"/>
                <a:gd name="connsiteY46" fmla="*/ 5459364 h 6315453"/>
                <a:gd name="connsiteX47" fmla="*/ 4741771 w 5774333"/>
                <a:gd name="connsiteY47" fmla="*/ 5372971 h 6315453"/>
                <a:gd name="connsiteX48" fmla="*/ 4862901 w 5774333"/>
                <a:gd name="connsiteY48" fmla="*/ 5283682 h 6315453"/>
                <a:gd name="connsiteX49" fmla="*/ 5108229 w 5774333"/>
                <a:gd name="connsiteY49" fmla="*/ 5098386 h 6315453"/>
                <a:gd name="connsiteX50" fmla="*/ 5612493 w 5774333"/>
                <a:gd name="connsiteY50" fmla="*/ 4739724 h 6315453"/>
                <a:gd name="connsiteX51" fmla="*/ 5774333 w 5774333"/>
                <a:gd name="connsiteY51" fmla="*/ 4623488 h 6315453"/>
                <a:gd name="connsiteX52" fmla="*/ 5774333 w 5774333"/>
                <a:gd name="connsiteY52" fmla="*/ 5232926 h 6315453"/>
                <a:gd name="connsiteX53" fmla="*/ 5676492 w 5774333"/>
                <a:gd name="connsiteY53" fmla="*/ 5306859 h 6315453"/>
                <a:gd name="connsiteX54" fmla="*/ 5426260 w 5774333"/>
                <a:gd name="connsiteY54" fmla="*/ 5486233 h 6315453"/>
                <a:gd name="connsiteX55" fmla="*/ 5300225 w 5774333"/>
                <a:gd name="connsiteY55" fmla="*/ 5576217 h 6315453"/>
                <a:gd name="connsiteX56" fmla="*/ 5170757 w 5774333"/>
                <a:gd name="connsiteY56" fmla="*/ 5666780 h 6315453"/>
                <a:gd name="connsiteX57" fmla="*/ 5038100 w 5774333"/>
                <a:gd name="connsiteY57" fmla="*/ 5756185 h 6315453"/>
                <a:gd name="connsiteX58" fmla="*/ 4901276 w 5774333"/>
                <a:gd name="connsiteY58" fmla="*/ 5843043 h 6315453"/>
                <a:gd name="connsiteX59" fmla="*/ 4614019 w 5774333"/>
                <a:gd name="connsiteY59" fmla="*/ 6006103 h 6315453"/>
                <a:gd name="connsiteX60" fmla="*/ 4305061 w 5774333"/>
                <a:gd name="connsiteY60" fmla="*/ 6144726 h 6315453"/>
                <a:gd name="connsiteX61" fmla="*/ 3632710 w 5774333"/>
                <a:gd name="connsiteY61" fmla="*/ 6304196 h 6315453"/>
                <a:gd name="connsiteX62" fmla="*/ 3459594 w 5774333"/>
                <a:gd name="connsiteY62" fmla="*/ 6314504 h 6315453"/>
                <a:gd name="connsiteX63" fmla="*/ 3416315 w 5774333"/>
                <a:gd name="connsiteY63" fmla="*/ 6315429 h 6315453"/>
                <a:gd name="connsiteX64" fmla="*/ 3373159 w 5774333"/>
                <a:gd name="connsiteY64" fmla="*/ 6315198 h 6315453"/>
                <a:gd name="connsiteX65" fmla="*/ 3330127 w 5774333"/>
                <a:gd name="connsiteY65" fmla="*/ 6314735 h 6315453"/>
                <a:gd name="connsiteX66" fmla="*/ 3288320 w 5774333"/>
                <a:gd name="connsiteY66" fmla="*/ 6313230 h 6315453"/>
                <a:gd name="connsiteX67" fmla="*/ 2954350 w 5774333"/>
                <a:gd name="connsiteY67" fmla="*/ 6288098 h 6315453"/>
                <a:gd name="connsiteX68" fmla="*/ 2622466 w 5774333"/>
                <a:gd name="connsiteY68" fmla="*/ 6232742 h 6315453"/>
                <a:gd name="connsiteX69" fmla="*/ 2296466 w 5774333"/>
                <a:gd name="connsiteY69" fmla="*/ 6146001 h 6315453"/>
                <a:gd name="connsiteX70" fmla="*/ 1672419 w 5774333"/>
                <a:gd name="connsiteY70" fmla="*/ 5885197 h 6315453"/>
                <a:gd name="connsiteX71" fmla="*/ 1146578 w 5774333"/>
                <a:gd name="connsiteY71" fmla="*/ 5479168 h 6315453"/>
                <a:gd name="connsiteX72" fmla="*/ 933372 w 5774333"/>
                <a:gd name="connsiteY72" fmla="*/ 5234810 h 6315453"/>
                <a:gd name="connsiteX73" fmla="*/ 747140 w 5774333"/>
                <a:gd name="connsiteY73" fmla="*/ 4976091 h 6315453"/>
                <a:gd name="connsiteX74" fmla="*/ 703616 w 5774333"/>
                <a:gd name="connsiteY74" fmla="*/ 4910196 h 6315453"/>
                <a:gd name="connsiteX75" fmla="*/ 662053 w 5774333"/>
                <a:gd name="connsiteY75" fmla="*/ 4846269 h 6315453"/>
                <a:gd name="connsiteX76" fmla="*/ 580033 w 5774333"/>
                <a:gd name="connsiteY76" fmla="*/ 4722352 h 6315453"/>
                <a:gd name="connsiteX77" fmla="*/ 410105 w 5774333"/>
                <a:gd name="connsiteY77" fmla="*/ 4469193 h 6315453"/>
                <a:gd name="connsiteX78" fmla="*/ 244224 w 5774333"/>
                <a:gd name="connsiteY78" fmla="*/ 4201556 h 6315453"/>
                <a:gd name="connsiteX79" fmla="*/ 169437 w 5774333"/>
                <a:gd name="connsiteY79" fmla="*/ 4059690 h 6315453"/>
                <a:gd name="connsiteX80" fmla="*/ 105929 w 5774333"/>
                <a:gd name="connsiteY80" fmla="*/ 3911221 h 6315453"/>
                <a:gd name="connsiteX81" fmla="*/ 57256 w 5774333"/>
                <a:gd name="connsiteY81" fmla="*/ 3757195 h 6315453"/>
                <a:gd name="connsiteX82" fmla="*/ 39111 w 5774333"/>
                <a:gd name="connsiteY82" fmla="*/ 3678677 h 6315453"/>
                <a:gd name="connsiteX83" fmla="*/ 31142 w 5774333"/>
                <a:gd name="connsiteY83" fmla="*/ 3639300 h 6315453"/>
                <a:gd name="connsiteX84" fmla="*/ 24521 w 5774333"/>
                <a:gd name="connsiteY84" fmla="*/ 3599809 h 6315453"/>
                <a:gd name="connsiteX85" fmla="*/ 0 w 5774333"/>
                <a:gd name="connsiteY85" fmla="*/ 3283418 h 6315453"/>
                <a:gd name="connsiteX86" fmla="*/ 68045 w 5774333"/>
                <a:gd name="connsiteY86" fmla="*/ 2666963 h 6315453"/>
                <a:gd name="connsiteX87" fmla="*/ 272546 w 5774333"/>
                <a:gd name="connsiteY87" fmla="*/ 2076334 h 6315453"/>
                <a:gd name="connsiteX88" fmla="*/ 1039300 w 5774333"/>
                <a:gd name="connsiteY88" fmla="*/ 1073307 h 6315453"/>
                <a:gd name="connsiteX89" fmla="*/ 1547733 w 5774333"/>
                <a:gd name="connsiteY89" fmla="*/ 680365 h 6315453"/>
                <a:gd name="connsiteX90" fmla="*/ 2115995 w 5774333"/>
                <a:gd name="connsiteY90" fmla="*/ 368373 h 6315453"/>
                <a:gd name="connsiteX91" fmla="*/ 3377451 w 5774333"/>
                <a:gd name="connsiteY91" fmla="*/ 24304 h 6315453"/>
                <a:gd name="connsiteX92" fmla="*/ 3707237 w 5774333"/>
                <a:gd name="connsiteY92" fmla="*/ 1489 h 6315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</a:cxnLst>
              <a:rect l="l" t="t" r="r" b="b"/>
              <a:pathLst>
                <a:path w="5774333" h="6315453">
                  <a:moveTo>
                    <a:pt x="3707237" y="1489"/>
                  </a:moveTo>
                  <a:cubicBezTo>
                    <a:pt x="3817502" y="-1522"/>
                    <a:pt x="3927875" y="41"/>
                    <a:pt x="4037665" y="6121"/>
                  </a:cubicBezTo>
                  <a:cubicBezTo>
                    <a:pt x="4257614" y="18745"/>
                    <a:pt x="4477439" y="49665"/>
                    <a:pt x="4692239" y="102128"/>
                  </a:cubicBezTo>
                  <a:cubicBezTo>
                    <a:pt x="4907039" y="154474"/>
                    <a:pt x="5116811" y="228592"/>
                    <a:pt x="5315059" y="324945"/>
                  </a:cubicBezTo>
                  <a:cubicBezTo>
                    <a:pt x="5463562" y="397211"/>
                    <a:pt x="5606133" y="481527"/>
                    <a:pt x="5738325" y="578286"/>
                  </a:cubicBezTo>
                  <a:lnTo>
                    <a:pt x="5774333" y="606551"/>
                  </a:lnTo>
                  <a:lnTo>
                    <a:pt x="5774333" y="975490"/>
                  </a:lnTo>
                  <a:lnTo>
                    <a:pt x="5676001" y="889749"/>
                  </a:lnTo>
                  <a:cubicBezTo>
                    <a:pt x="5522381" y="769886"/>
                    <a:pt x="5355519" y="665657"/>
                    <a:pt x="5177132" y="581926"/>
                  </a:cubicBezTo>
                  <a:cubicBezTo>
                    <a:pt x="4998867" y="497965"/>
                    <a:pt x="4810183" y="433574"/>
                    <a:pt x="4615735" y="388640"/>
                  </a:cubicBezTo>
                  <a:cubicBezTo>
                    <a:pt x="4421289" y="343591"/>
                    <a:pt x="4221446" y="317649"/>
                    <a:pt x="4020010" y="308500"/>
                  </a:cubicBezTo>
                  <a:cubicBezTo>
                    <a:pt x="3818207" y="298887"/>
                    <a:pt x="3616649" y="305257"/>
                    <a:pt x="3416315" y="328882"/>
                  </a:cubicBezTo>
                  <a:cubicBezTo>
                    <a:pt x="3216106" y="352623"/>
                    <a:pt x="3017736" y="392346"/>
                    <a:pt x="2823779" y="446545"/>
                  </a:cubicBezTo>
                  <a:cubicBezTo>
                    <a:pt x="2629699" y="500513"/>
                    <a:pt x="2440401" y="570345"/>
                    <a:pt x="2256987" y="651296"/>
                  </a:cubicBezTo>
                  <a:cubicBezTo>
                    <a:pt x="1889058" y="811461"/>
                    <a:pt x="1545527" y="1023856"/>
                    <a:pt x="1244169" y="1280374"/>
                  </a:cubicBezTo>
                  <a:cubicBezTo>
                    <a:pt x="1093982" y="1409039"/>
                    <a:pt x="954828" y="1549400"/>
                    <a:pt x="830141" y="1700184"/>
                  </a:cubicBezTo>
                  <a:cubicBezTo>
                    <a:pt x="705209" y="1850736"/>
                    <a:pt x="594989" y="2012176"/>
                    <a:pt x="502792" y="2182300"/>
                  </a:cubicBezTo>
                  <a:cubicBezTo>
                    <a:pt x="410595" y="2352308"/>
                    <a:pt x="333847" y="2530307"/>
                    <a:pt x="280637" y="2715256"/>
                  </a:cubicBezTo>
                  <a:cubicBezTo>
                    <a:pt x="227306" y="2899741"/>
                    <a:pt x="199719" y="3091521"/>
                    <a:pt x="199843" y="3283418"/>
                  </a:cubicBezTo>
                  <a:cubicBezTo>
                    <a:pt x="200946" y="3377687"/>
                    <a:pt x="210754" y="3471261"/>
                    <a:pt x="233926" y="3561593"/>
                  </a:cubicBezTo>
                  <a:cubicBezTo>
                    <a:pt x="256730" y="3652040"/>
                    <a:pt x="292162" y="3738550"/>
                    <a:pt x="334582" y="3821816"/>
                  </a:cubicBezTo>
                  <a:cubicBezTo>
                    <a:pt x="356038" y="3863392"/>
                    <a:pt x="379823" y="3904157"/>
                    <a:pt x="404834" y="3944343"/>
                  </a:cubicBezTo>
                  <a:cubicBezTo>
                    <a:pt x="430212" y="3984413"/>
                    <a:pt x="457308" y="4023905"/>
                    <a:pt x="485506" y="4062932"/>
                  </a:cubicBezTo>
                  <a:cubicBezTo>
                    <a:pt x="542639" y="4140757"/>
                    <a:pt x="606146" y="4216265"/>
                    <a:pt x="671861" y="4292120"/>
                  </a:cubicBezTo>
                  <a:cubicBezTo>
                    <a:pt x="737576" y="4368091"/>
                    <a:pt x="806234" y="4444062"/>
                    <a:pt x="873542" y="4523044"/>
                  </a:cubicBezTo>
                  <a:cubicBezTo>
                    <a:pt x="907258" y="4562419"/>
                    <a:pt x="940606" y="4602721"/>
                    <a:pt x="973831" y="4643601"/>
                  </a:cubicBezTo>
                  <a:lnTo>
                    <a:pt x="1022014" y="4702780"/>
                  </a:lnTo>
                  <a:cubicBezTo>
                    <a:pt x="1037829" y="4721658"/>
                    <a:pt x="1052910" y="4740998"/>
                    <a:pt x="1069215" y="4759411"/>
                  </a:cubicBezTo>
                  <a:cubicBezTo>
                    <a:pt x="1196477" y="4909269"/>
                    <a:pt x="1334527" y="5047199"/>
                    <a:pt x="1474784" y="5177948"/>
                  </a:cubicBezTo>
                  <a:cubicBezTo>
                    <a:pt x="1545281" y="5243033"/>
                    <a:pt x="1617003" y="5305917"/>
                    <a:pt x="1690442" y="5366255"/>
                  </a:cubicBezTo>
                  <a:cubicBezTo>
                    <a:pt x="1763881" y="5426591"/>
                    <a:pt x="1838668" y="5484959"/>
                    <a:pt x="1916276" y="5539852"/>
                  </a:cubicBezTo>
                  <a:cubicBezTo>
                    <a:pt x="2070877" y="5649872"/>
                    <a:pt x="2237617" y="5748194"/>
                    <a:pt x="2420784" y="5814437"/>
                  </a:cubicBezTo>
                  <a:cubicBezTo>
                    <a:pt x="2512124" y="5847559"/>
                    <a:pt x="2606773" y="5872921"/>
                    <a:pt x="2703015" y="5892029"/>
                  </a:cubicBezTo>
                  <a:cubicBezTo>
                    <a:pt x="2727168" y="5896546"/>
                    <a:pt x="2751075" y="5901758"/>
                    <a:pt x="2775350" y="5905695"/>
                  </a:cubicBezTo>
                  <a:lnTo>
                    <a:pt x="2848299" y="5917161"/>
                  </a:lnTo>
                  <a:cubicBezTo>
                    <a:pt x="2897218" y="5923298"/>
                    <a:pt x="2946136" y="5929784"/>
                    <a:pt x="2995544" y="5933605"/>
                  </a:cubicBezTo>
                  <a:cubicBezTo>
                    <a:pt x="3020188" y="5935806"/>
                    <a:pt x="3044831" y="5937891"/>
                    <a:pt x="3069596" y="5938933"/>
                  </a:cubicBezTo>
                  <a:cubicBezTo>
                    <a:pt x="3094362" y="5940090"/>
                    <a:pt x="3119005" y="5941943"/>
                    <a:pt x="3143894" y="5942639"/>
                  </a:cubicBezTo>
                  <a:lnTo>
                    <a:pt x="3218436" y="5944260"/>
                  </a:lnTo>
                  <a:cubicBezTo>
                    <a:pt x="3243201" y="5944838"/>
                    <a:pt x="3268212" y="5944029"/>
                    <a:pt x="3293101" y="5943913"/>
                  </a:cubicBezTo>
                  <a:lnTo>
                    <a:pt x="3330494" y="5943565"/>
                  </a:lnTo>
                  <a:cubicBezTo>
                    <a:pt x="3342632" y="5943218"/>
                    <a:pt x="3354524" y="5942523"/>
                    <a:pt x="3366540" y="5942059"/>
                  </a:cubicBezTo>
                  <a:cubicBezTo>
                    <a:pt x="3378554" y="5941480"/>
                    <a:pt x="3390570" y="5941134"/>
                    <a:pt x="3402462" y="5940323"/>
                  </a:cubicBezTo>
                  <a:lnTo>
                    <a:pt x="3438262" y="5937543"/>
                  </a:lnTo>
                  <a:cubicBezTo>
                    <a:pt x="3485954" y="5933953"/>
                    <a:pt x="3533279" y="5927931"/>
                    <a:pt x="3580236" y="5920982"/>
                  </a:cubicBezTo>
                  <a:cubicBezTo>
                    <a:pt x="3768185" y="5891567"/>
                    <a:pt x="3948901" y="5834010"/>
                    <a:pt x="4121034" y="5753290"/>
                  </a:cubicBezTo>
                  <a:cubicBezTo>
                    <a:pt x="4293782" y="5673497"/>
                    <a:pt x="4458191" y="5571353"/>
                    <a:pt x="4620639" y="5459364"/>
                  </a:cubicBezTo>
                  <a:cubicBezTo>
                    <a:pt x="4661221" y="5431455"/>
                    <a:pt x="4701557" y="5402271"/>
                    <a:pt x="4741771" y="5372971"/>
                  </a:cubicBezTo>
                  <a:cubicBezTo>
                    <a:pt x="4782230" y="5343672"/>
                    <a:pt x="4822566" y="5313908"/>
                    <a:pt x="4862901" y="5283682"/>
                  </a:cubicBezTo>
                  <a:lnTo>
                    <a:pt x="5108229" y="5098386"/>
                  </a:lnTo>
                  <a:cubicBezTo>
                    <a:pt x="5276563" y="4972270"/>
                    <a:pt x="5446489" y="4854838"/>
                    <a:pt x="5612493" y="4739724"/>
                  </a:cubicBezTo>
                  <a:lnTo>
                    <a:pt x="5774333" y="4623488"/>
                  </a:lnTo>
                  <a:lnTo>
                    <a:pt x="5774333" y="5232926"/>
                  </a:lnTo>
                  <a:lnTo>
                    <a:pt x="5676492" y="5306859"/>
                  </a:lnTo>
                  <a:cubicBezTo>
                    <a:pt x="5592693" y="5367905"/>
                    <a:pt x="5508955" y="5427286"/>
                    <a:pt x="5426260" y="5486233"/>
                  </a:cubicBezTo>
                  <a:lnTo>
                    <a:pt x="5300225" y="5576217"/>
                  </a:lnTo>
                  <a:cubicBezTo>
                    <a:pt x="5257559" y="5606443"/>
                    <a:pt x="5214525" y="5636901"/>
                    <a:pt x="5170757" y="5666780"/>
                  </a:cubicBezTo>
                  <a:cubicBezTo>
                    <a:pt x="5127110" y="5696775"/>
                    <a:pt x="5082973" y="5726654"/>
                    <a:pt x="5038100" y="5756185"/>
                  </a:cubicBezTo>
                  <a:cubicBezTo>
                    <a:pt x="4993106" y="5785486"/>
                    <a:pt x="4947743" y="5814553"/>
                    <a:pt x="4901276" y="5843043"/>
                  </a:cubicBezTo>
                  <a:cubicBezTo>
                    <a:pt x="4808835" y="5900136"/>
                    <a:pt x="4713449" y="5955494"/>
                    <a:pt x="4614019" y="6006103"/>
                  </a:cubicBezTo>
                  <a:cubicBezTo>
                    <a:pt x="4514711" y="6056943"/>
                    <a:pt x="4411971" y="6104192"/>
                    <a:pt x="4305061" y="6144726"/>
                  </a:cubicBezTo>
                  <a:cubicBezTo>
                    <a:pt x="4092223" y="6226952"/>
                    <a:pt x="3863569" y="6282424"/>
                    <a:pt x="3632710" y="6304196"/>
                  </a:cubicBezTo>
                  <a:cubicBezTo>
                    <a:pt x="3574964" y="6309408"/>
                    <a:pt x="3517218" y="6313345"/>
                    <a:pt x="3459594" y="6314504"/>
                  </a:cubicBezTo>
                  <a:lnTo>
                    <a:pt x="3416315" y="6315429"/>
                  </a:lnTo>
                  <a:cubicBezTo>
                    <a:pt x="3401971" y="6315546"/>
                    <a:pt x="3387505" y="6315198"/>
                    <a:pt x="3373159" y="6315198"/>
                  </a:cubicBezTo>
                  <a:lnTo>
                    <a:pt x="3330127" y="6314735"/>
                  </a:lnTo>
                  <a:lnTo>
                    <a:pt x="3288320" y="6313230"/>
                  </a:lnTo>
                  <a:cubicBezTo>
                    <a:pt x="3176996" y="6309870"/>
                    <a:pt x="3065428" y="6301533"/>
                    <a:pt x="2954350" y="6288098"/>
                  </a:cubicBezTo>
                  <a:cubicBezTo>
                    <a:pt x="2843150" y="6275360"/>
                    <a:pt x="2732194" y="6257061"/>
                    <a:pt x="2622466" y="6232742"/>
                  </a:cubicBezTo>
                  <a:cubicBezTo>
                    <a:pt x="2512859" y="6208190"/>
                    <a:pt x="2404110" y="6179122"/>
                    <a:pt x="2296466" y="6146001"/>
                  </a:cubicBezTo>
                  <a:cubicBezTo>
                    <a:pt x="2081544" y="6079179"/>
                    <a:pt x="1869073" y="5996027"/>
                    <a:pt x="1672419" y="5885197"/>
                  </a:cubicBezTo>
                  <a:cubicBezTo>
                    <a:pt x="1475643" y="5774599"/>
                    <a:pt x="1299954" y="5634353"/>
                    <a:pt x="1146578" y="5479168"/>
                  </a:cubicBezTo>
                  <a:cubicBezTo>
                    <a:pt x="1069461" y="5401692"/>
                    <a:pt x="999333" y="5319235"/>
                    <a:pt x="933372" y="5234810"/>
                  </a:cubicBezTo>
                  <a:cubicBezTo>
                    <a:pt x="867781" y="5150038"/>
                    <a:pt x="805375" y="5063991"/>
                    <a:pt x="747140" y="4976091"/>
                  </a:cubicBezTo>
                  <a:cubicBezTo>
                    <a:pt x="732182" y="4954319"/>
                    <a:pt x="718082" y="4932199"/>
                    <a:pt x="703616" y="4910196"/>
                  </a:cubicBezTo>
                  <a:lnTo>
                    <a:pt x="662053" y="4846269"/>
                  </a:lnTo>
                  <a:cubicBezTo>
                    <a:pt x="635449" y="4804925"/>
                    <a:pt x="607864" y="4763928"/>
                    <a:pt x="580033" y="4722352"/>
                  </a:cubicBezTo>
                  <a:lnTo>
                    <a:pt x="410105" y="4469193"/>
                  </a:lnTo>
                  <a:cubicBezTo>
                    <a:pt x="353095" y="4382915"/>
                    <a:pt x="296820" y="4294089"/>
                    <a:pt x="244224" y="4201556"/>
                  </a:cubicBezTo>
                  <a:cubicBezTo>
                    <a:pt x="217987" y="4155232"/>
                    <a:pt x="192609" y="4108098"/>
                    <a:pt x="169437" y="4059690"/>
                  </a:cubicBezTo>
                  <a:cubicBezTo>
                    <a:pt x="146388" y="4011165"/>
                    <a:pt x="124932" y="3961715"/>
                    <a:pt x="105929" y="3911221"/>
                  </a:cubicBezTo>
                  <a:cubicBezTo>
                    <a:pt x="87293" y="3860613"/>
                    <a:pt x="70742" y="3809309"/>
                    <a:pt x="57256" y="3757195"/>
                  </a:cubicBezTo>
                  <a:cubicBezTo>
                    <a:pt x="50881" y="3731138"/>
                    <a:pt x="44383" y="3704965"/>
                    <a:pt x="39111" y="3678677"/>
                  </a:cubicBezTo>
                  <a:lnTo>
                    <a:pt x="31142" y="3639300"/>
                  </a:lnTo>
                  <a:lnTo>
                    <a:pt x="24521" y="3599809"/>
                  </a:lnTo>
                  <a:cubicBezTo>
                    <a:pt x="7234" y="3494423"/>
                    <a:pt x="0" y="3388457"/>
                    <a:pt x="0" y="3283418"/>
                  </a:cubicBezTo>
                  <a:cubicBezTo>
                    <a:pt x="491" y="3076698"/>
                    <a:pt x="23418" y="2869978"/>
                    <a:pt x="68045" y="2666963"/>
                  </a:cubicBezTo>
                  <a:cubicBezTo>
                    <a:pt x="112550" y="2464064"/>
                    <a:pt x="180717" y="2265104"/>
                    <a:pt x="272546" y="2076334"/>
                  </a:cubicBezTo>
                  <a:cubicBezTo>
                    <a:pt x="457062" y="1698794"/>
                    <a:pt x="724457" y="1360978"/>
                    <a:pt x="1039300" y="1073307"/>
                  </a:cubicBezTo>
                  <a:cubicBezTo>
                    <a:pt x="1197090" y="929472"/>
                    <a:pt x="1367630" y="798259"/>
                    <a:pt x="1547733" y="680365"/>
                  </a:cubicBezTo>
                  <a:cubicBezTo>
                    <a:pt x="1728081" y="562587"/>
                    <a:pt x="1917870" y="457663"/>
                    <a:pt x="2115995" y="368373"/>
                  </a:cubicBezTo>
                  <a:cubicBezTo>
                    <a:pt x="2512737" y="191070"/>
                    <a:pt x="2939883" y="73870"/>
                    <a:pt x="3377451" y="24304"/>
                  </a:cubicBezTo>
                  <a:cubicBezTo>
                    <a:pt x="3486812" y="12086"/>
                    <a:pt x="3596971" y="4500"/>
                    <a:pt x="3707237" y="148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C18CE1F-9DF1-47AF-9E66-6CE348AC2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464911 h 6229400"/>
                <a:gd name="connsiteX4" fmla="*/ 5660063 w 5769111"/>
                <a:gd name="connsiteY4" fmla="*/ 1328105 h 6229400"/>
                <a:gd name="connsiteX5" fmla="*/ 4910471 w 5769111"/>
                <a:gd name="connsiteY5" fmla="*/ 781599 h 6229400"/>
                <a:gd name="connsiteX6" fmla="*/ 3882695 w 5769111"/>
                <a:gd name="connsiteY6" fmla="*/ 579048 h 6229400"/>
                <a:gd name="connsiteX7" fmla="*/ 2683153 w 5769111"/>
                <a:gd name="connsiteY7" fmla="*/ 797003 h 6229400"/>
                <a:gd name="connsiteX8" fmla="*/ 1617493 w 5769111"/>
                <a:gd name="connsiteY8" fmla="*/ 1395738 h 6229400"/>
                <a:gd name="connsiteX9" fmla="*/ 880408 w 5769111"/>
                <a:gd name="connsiteY9" fmla="*/ 2259099 h 6229400"/>
                <a:gd name="connsiteX10" fmla="*/ 613135 w 5769111"/>
                <a:gd name="connsiteY10" fmla="*/ 3263863 h 6229400"/>
                <a:gd name="connsiteX11" fmla="*/ 1055484 w 5769111"/>
                <a:gd name="connsiteY11" fmla="*/ 4196825 h 6229400"/>
                <a:gd name="connsiteX12" fmla="*/ 1278376 w 5769111"/>
                <a:gd name="connsiteY12" fmla="*/ 4492950 h 6229400"/>
                <a:gd name="connsiteX13" fmla="*/ 3369851 w 5769111"/>
                <a:gd name="connsiteY13" fmla="*/ 5650468 h 6229400"/>
                <a:gd name="connsiteX14" fmla="*/ 4957551 w 5769111"/>
                <a:gd name="connsiteY14" fmla="*/ 4938355 h 6229400"/>
                <a:gd name="connsiteX15" fmla="*/ 5150773 w 5769111"/>
                <a:gd name="connsiteY15" fmla="*/ 4796950 h 6229400"/>
                <a:gd name="connsiteX16" fmla="*/ 5747247 w 5769111"/>
                <a:gd name="connsiteY16" fmla="*/ 4338176 h 6229400"/>
                <a:gd name="connsiteX17" fmla="*/ 5769111 w 5769111"/>
                <a:gd name="connsiteY17" fmla="*/ 4318497 h 6229400"/>
                <a:gd name="connsiteX18" fmla="*/ 5769111 w 5769111"/>
                <a:gd name="connsiteY18" fmla="*/ 5074612 h 6229400"/>
                <a:gd name="connsiteX19" fmla="*/ 5636252 w 5769111"/>
                <a:gd name="connsiteY19" fmla="*/ 5174208 h 6229400"/>
                <a:gd name="connsiteX20" fmla="*/ 5334922 w 5769111"/>
                <a:gd name="connsiteY20" fmla="*/ 5394528 h 6229400"/>
                <a:gd name="connsiteX21" fmla="*/ 3369727 w 5769111"/>
                <a:gd name="connsiteY21" fmla="*/ 6229400 h 6229400"/>
                <a:gd name="connsiteX22" fmla="*/ 771046 w 5769111"/>
                <a:gd name="connsiteY22" fmla="*/ 4817913 h 6229400"/>
                <a:gd name="connsiteX23" fmla="*/ 0 w 5769111"/>
                <a:gd name="connsiteY23" fmla="*/ 3263748 h 6229400"/>
                <a:gd name="connsiteX24" fmla="*/ 3882695 w 5769111"/>
                <a:gd name="connsiteY24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464911"/>
                  </a:lnTo>
                  <a:lnTo>
                    <a:pt x="5660063" y="1328105"/>
                  </a:lnTo>
                  <a:cubicBezTo>
                    <a:pt x="5449800" y="1091506"/>
                    <a:pt x="5197607" y="907600"/>
                    <a:pt x="4910471" y="781599"/>
                  </a:cubicBezTo>
                  <a:cubicBezTo>
                    <a:pt x="4604088" y="647260"/>
                    <a:pt x="4258349" y="579048"/>
                    <a:pt x="3882695" y="579048"/>
                  </a:cubicBezTo>
                  <a:cubicBezTo>
                    <a:pt x="3484238" y="579048"/>
                    <a:pt x="3080631" y="652240"/>
                    <a:pt x="2683153" y="797003"/>
                  </a:cubicBezTo>
                  <a:cubicBezTo>
                    <a:pt x="2296098" y="937595"/>
                    <a:pt x="1927678" y="1144662"/>
                    <a:pt x="1617493" y="1395738"/>
                  </a:cubicBezTo>
                  <a:cubicBezTo>
                    <a:pt x="1301915" y="1651098"/>
                    <a:pt x="1053890" y="1941665"/>
                    <a:pt x="880408" y="2259099"/>
                  </a:cubicBezTo>
                  <a:cubicBezTo>
                    <a:pt x="703125" y="2583597"/>
                    <a:pt x="613135" y="2921645"/>
                    <a:pt x="613135" y="3263863"/>
                  </a:cubicBezTo>
                  <a:cubicBezTo>
                    <a:pt x="613135" y="3608512"/>
                    <a:pt x="756702" y="3809789"/>
                    <a:pt x="1055484" y="4196825"/>
                  </a:cubicBezTo>
                  <a:cubicBezTo>
                    <a:pt x="1127574" y="4290167"/>
                    <a:pt x="1202116" y="4386753"/>
                    <a:pt x="1278376" y="4492950"/>
                  </a:cubicBezTo>
                  <a:cubicBezTo>
                    <a:pt x="1861105" y="5304313"/>
                    <a:pt x="2486623" y="5650468"/>
                    <a:pt x="3369851" y="5650468"/>
                  </a:cubicBezTo>
                  <a:cubicBezTo>
                    <a:pt x="3949515" y="5650468"/>
                    <a:pt x="4374822" y="5368471"/>
                    <a:pt x="4957551" y="4938355"/>
                  </a:cubicBezTo>
                  <a:cubicBezTo>
                    <a:pt x="5022653" y="4890293"/>
                    <a:pt x="5087755" y="4842811"/>
                    <a:pt x="5150773" y="4796950"/>
                  </a:cubicBezTo>
                  <a:cubicBezTo>
                    <a:pt x="5364254" y="4641404"/>
                    <a:pt x="5570313" y="4491241"/>
                    <a:pt x="5747247" y="4338176"/>
                  </a:cubicBezTo>
                  <a:lnTo>
                    <a:pt x="5769111" y="4318497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BD26A8C-8D1D-41E6-A71E-FE9AC75F3F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675390 h 6229400"/>
                <a:gd name="connsiteX4" fmla="*/ 5711488 w 5769111"/>
                <a:gd name="connsiteY4" fmla="*/ 1585205 h 6229400"/>
                <a:gd name="connsiteX5" fmla="*/ 5566027 w 5769111"/>
                <a:gd name="connsiteY5" fmla="*/ 1402571 h 6229400"/>
                <a:gd name="connsiteX6" fmla="*/ 4858734 w 5769111"/>
                <a:gd name="connsiteY6" fmla="*/ 886639 h 6229400"/>
                <a:gd name="connsiteX7" fmla="*/ 3882695 w 5769111"/>
                <a:gd name="connsiteY7" fmla="*/ 694858 h 6229400"/>
                <a:gd name="connsiteX8" fmla="*/ 2727046 w 5769111"/>
                <a:gd name="connsiteY8" fmla="*/ 905053 h 6229400"/>
                <a:gd name="connsiteX9" fmla="*/ 1697186 w 5769111"/>
                <a:gd name="connsiteY9" fmla="*/ 1483638 h 6229400"/>
                <a:gd name="connsiteX10" fmla="*/ 989279 w 5769111"/>
                <a:gd name="connsiteY10" fmla="*/ 2312139 h 6229400"/>
                <a:gd name="connsiteX11" fmla="*/ 735615 w 5769111"/>
                <a:gd name="connsiteY11" fmla="*/ 3263863 h 6229400"/>
                <a:gd name="connsiteX12" fmla="*/ 1154424 w 5769111"/>
                <a:gd name="connsiteY12" fmla="*/ 4128614 h 6229400"/>
                <a:gd name="connsiteX13" fmla="*/ 1379768 w 5769111"/>
                <a:gd name="connsiteY13" fmla="*/ 4427981 h 6229400"/>
                <a:gd name="connsiteX14" fmla="*/ 2239456 w 5769111"/>
                <a:gd name="connsiteY14" fmla="*/ 5256947 h 6229400"/>
                <a:gd name="connsiteX15" fmla="*/ 3369727 w 5769111"/>
                <a:gd name="connsiteY15" fmla="*/ 5534658 h 6229400"/>
                <a:gd name="connsiteX16" fmla="*/ 4096760 w 5769111"/>
                <a:gd name="connsiteY16" fmla="*/ 5357817 h 6229400"/>
                <a:gd name="connsiteX17" fmla="*/ 4881905 w 5769111"/>
                <a:gd name="connsiteY17" fmla="*/ 4847212 h 6229400"/>
                <a:gd name="connsiteX18" fmla="*/ 5075739 w 5769111"/>
                <a:gd name="connsiteY18" fmla="*/ 4705346 h 6229400"/>
                <a:gd name="connsiteX19" fmla="*/ 5759930 w 5769111"/>
                <a:gd name="connsiteY19" fmla="*/ 4166809 h 6229400"/>
                <a:gd name="connsiteX20" fmla="*/ 5769111 w 5769111"/>
                <a:gd name="connsiteY20" fmla="*/ 4157764 h 6229400"/>
                <a:gd name="connsiteX21" fmla="*/ 5769111 w 5769111"/>
                <a:gd name="connsiteY21" fmla="*/ 5074612 h 6229400"/>
                <a:gd name="connsiteX22" fmla="*/ 5636252 w 5769111"/>
                <a:gd name="connsiteY22" fmla="*/ 5174208 h 6229400"/>
                <a:gd name="connsiteX23" fmla="*/ 5334922 w 5769111"/>
                <a:gd name="connsiteY23" fmla="*/ 5394528 h 6229400"/>
                <a:gd name="connsiteX24" fmla="*/ 3369727 w 5769111"/>
                <a:gd name="connsiteY24" fmla="*/ 6229400 h 6229400"/>
                <a:gd name="connsiteX25" fmla="*/ 771046 w 5769111"/>
                <a:gd name="connsiteY25" fmla="*/ 4817913 h 6229400"/>
                <a:gd name="connsiteX26" fmla="*/ 0 w 5769111"/>
                <a:gd name="connsiteY26" fmla="*/ 3263748 h 6229400"/>
                <a:gd name="connsiteX27" fmla="*/ 3882695 w 5769111"/>
                <a:gd name="connsiteY27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675390"/>
                  </a:lnTo>
                  <a:lnTo>
                    <a:pt x="5711488" y="1585205"/>
                  </a:lnTo>
                  <a:cubicBezTo>
                    <a:pt x="5665942" y="1521390"/>
                    <a:pt x="5617428" y="1460432"/>
                    <a:pt x="5566027" y="1402571"/>
                  </a:cubicBezTo>
                  <a:cubicBezTo>
                    <a:pt x="5367411" y="1179058"/>
                    <a:pt x="5129563" y="1005460"/>
                    <a:pt x="4858734" y="886639"/>
                  </a:cubicBezTo>
                  <a:cubicBezTo>
                    <a:pt x="4568779" y="759363"/>
                    <a:pt x="4240327" y="694858"/>
                    <a:pt x="3882695" y="694858"/>
                  </a:cubicBezTo>
                  <a:cubicBezTo>
                    <a:pt x="3504835" y="694858"/>
                    <a:pt x="3105151" y="767471"/>
                    <a:pt x="2727046" y="905053"/>
                  </a:cubicBezTo>
                  <a:cubicBezTo>
                    <a:pt x="2352985" y="1041013"/>
                    <a:pt x="1996826" y="1241132"/>
                    <a:pt x="1697186" y="1483638"/>
                  </a:cubicBezTo>
                  <a:cubicBezTo>
                    <a:pt x="1397913" y="1725796"/>
                    <a:pt x="1153199" y="2012308"/>
                    <a:pt x="989279" y="2312139"/>
                  </a:cubicBezTo>
                  <a:cubicBezTo>
                    <a:pt x="820946" y="2620077"/>
                    <a:pt x="735615" y="2940290"/>
                    <a:pt x="735615" y="3263863"/>
                  </a:cubicBezTo>
                  <a:cubicBezTo>
                    <a:pt x="735615" y="3573074"/>
                    <a:pt x="863980" y="3752464"/>
                    <a:pt x="1154424" y="4128614"/>
                  </a:cubicBezTo>
                  <a:cubicBezTo>
                    <a:pt x="1227127" y="4222767"/>
                    <a:pt x="1302282" y="4320162"/>
                    <a:pt x="1379768" y="4427981"/>
                  </a:cubicBezTo>
                  <a:cubicBezTo>
                    <a:pt x="1653784" y="4809458"/>
                    <a:pt x="1934912" y="5080685"/>
                    <a:pt x="2239456" y="5256947"/>
                  </a:cubicBezTo>
                  <a:cubicBezTo>
                    <a:pt x="2562268" y="5443863"/>
                    <a:pt x="2932037" y="5534658"/>
                    <a:pt x="3369727" y="5534658"/>
                  </a:cubicBezTo>
                  <a:cubicBezTo>
                    <a:pt x="3618120" y="5534658"/>
                    <a:pt x="3849103" y="5478491"/>
                    <a:pt x="4096760" y="5357817"/>
                  </a:cubicBezTo>
                  <a:cubicBezTo>
                    <a:pt x="4351037" y="5233901"/>
                    <a:pt x="4602740" y="5053238"/>
                    <a:pt x="4881905" y="4847212"/>
                  </a:cubicBezTo>
                  <a:cubicBezTo>
                    <a:pt x="4947375" y="4798920"/>
                    <a:pt x="5012599" y="4751322"/>
                    <a:pt x="5075739" y="4705346"/>
                  </a:cubicBezTo>
                  <a:cubicBezTo>
                    <a:pt x="5327320" y="4521990"/>
                    <a:pt x="5568418" y="4346256"/>
                    <a:pt x="5759930" y="4166809"/>
                  </a:cubicBezTo>
                  <a:lnTo>
                    <a:pt x="5769111" y="4157764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Graphic 6" descr="Questions">
            <a:extLst>
              <a:ext uri="{FF2B5EF4-FFF2-40B4-BE49-F238E27FC236}">
                <a16:creationId xmlns:a16="http://schemas.microsoft.com/office/drawing/2014/main" id="{483CA025-2530-4B17-666E-12A088C926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21726" y="1629089"/>
            <a:ext cx="3620021" cy="362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3055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756</Words>
  <Application>Microsoft Macintosh PowerPoint</Application>
  <PresentationFormat>Widescreen</PresentationFormat>
  <Paragraphs>108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Times New Roman</vt:lpstr>
      <vt:lpstr>Office Theme</vt:lpstr>
      <vt:lpstr>Outland Adventures Database System</vt:lpstr>
      <vt:lpstr>Group Introduction</vt:lpstr>
      <vt:lpstr>Case Study Overview</vt:lpstr>
      <vt:lpstr>Design Goals</vt:lpstr>
      <vt:lpstr>ERD (Entity-Relationship Diagram)</vt:lpstr>
      <vt:lpstr>Assumptions We Made</vt:lpstr>
      <vt:lpstr>Report 1: Equipment Older Than 5 Years</vt:lpstr>
      <vt:lpstr>Report 2: Booking Trends by Region</vt:lpstr>
      <vt:lpstr>Report 3: Sales vs Rental Revenue</vt:lpstr>
      <vt:lpstr>Report 4: Guide Assignment Report</vt:lpstr>
      <vt:lpstr>Report 5: </vt:lpstr>
      <vt:lpstr>How These Reports Help the Owners</vt:lpstr>
      <vt:lpstr>Project Summary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Alexander Baldree</dc:creator>
  <cp:lastModifiedBy>Alexander Baldree</cp:lastModifiedBy>
  <cp:revision>7</cp:revision>
  <dcterms:created xsi:type="dcterms:W3CDTF">2025-12-11T04:17:20Z</dcterms:created>
  <dcterms:modified xsi:type="dcterms:W3CDTF">2025-12-13T04:18:36Z</dcterms:modified>
</cp:coreProperties>
</file>