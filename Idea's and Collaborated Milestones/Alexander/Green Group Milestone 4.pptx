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25"/>
    <p:restoredTop sz="94714"/>
  </p:normalViewPr>
  <p:slideViewPr>
    <p:cSldViewPr snapToGrid="0">
      <p:cViewPr varScale="1">
        <p:scale>
          <a:sx n="107" d="100"/>
          <a:sy n="107" d="100"/>
        </p:scale>
        <p:origin x="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B586-6854-9596-D92E-23BEEAF67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AB3C44-D4D4-10F0-9686-F1001CDFE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A068F-E7BA-B2BD-74A3-6BF2AF720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64ADE-3F8A-9ECC-FE99-2FE173E30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52ED7-59E5-2332-650D-A0C05C97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72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67E63-F4AB-6703-D030-A727889CF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D4A1C-9B7D-422D-1545-B2A1FFDB3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88A68-764F-A82C-65CC-D3FBBA78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66266-C4EA-698F-3371-60CA424B1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C3FE3-9943-DD80-692F-B44430D2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96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55118-37E9-B40E-44B1-756D3F691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BFEE4-8984-8048-1B40-6BB567E43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8F699-4465-5D6F-20ED-D0888D921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8F68E-ED02-65F2-7BA2-FFEE7730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F51C7-602E-78AF-8B86-0DA3E6B5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242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F32E2-87FF-DE92-2611-BF5021B7C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8FF33-1166-2183-46DC-5E1933AFAC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4C32E3-6DDC-6F9E-261F-A135C2F5E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99368-C729-6814-7FCA-D193DD65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C769A-8645-F2DD-D0D6-AE985A0BF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54CEC-4D18-F164-8570-186E543FD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871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4DED3-750A-1BBF-832E-8D926FD71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7384C-A493-25B0-ADA3-A63198AF6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D43A8-F03B-4E24-20B9-3CB5BC9ED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50D57C-A506-9194-6D1E-8548C73805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1BC83E-3658-F173-05EF-92FA75A27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83A6BC-E17C-7CA4-C00D-24A0A9C92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AB58D5-A147-4133-A888-DA04DA388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FDDB6C-D345-9C52-F28B-1B1E1DE57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30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C6CFF-C9A8-4006-92A1-4DC503CB0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939A8-88EE-2EFB-20F0-C3673A6C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EF65EA-62AB-DC3B-6491-61B75C73E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AF838-9240-6DCB-9A98-D5ED6C69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71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E616C1-EA6B-2A63-9604-D6E1E0A29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DEAB99-066A-AE45-0051-A7512AD46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19102-8281-81AA-CE26-4CEE360B9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4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03C8A-4416-3B5D-2A29-7E26148DD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772AC-AA6B-2607-AABA-3949D3FA6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EA2386-25B3-C2B7-1AB0-989907045D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C22E3-2BD2-2BB3-208E-259AA9E65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E1CDA-9FCA-0611-1310-8D39E44F6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1DFC8-9F33-708B-49DA-EBF6FA3A0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29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F1155-D4E7-E4B8-78DF-C25799225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AD8EB4-6324-CC07-C914-DA0D1A5843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C330F-F560-6A27-FED9-E21829115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28188-86F8-0FFF-378D-55ABA78FC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44011-3789-19C9-DA89-71981148E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94876-7CDE-51B0-C57C-A2E5326CA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90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B9AA2-2B42-0A4D-D993-BCD633EE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3E5058-3D42-B1A8-4C4E-9D6F57F73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D3BFC-008E-9ADE-4319-0EA0DB577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8222C-7982-43E6-7C81-BC8F490B1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1318F-F72F-554B-9BFD-D801F9C1D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14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F4E319-FA3F-877C-04B8-C0596FA291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67DBC-0325-E1B0-77BC-F1AE206D4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440F3-5E1E-B8E4-C12D-6CB08098F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0CC0-AF4B-E348-B54D-14F7FDD72637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68184-A4D4-02C0-BE76-44C8ADAEE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619B7-57BA-10FC-BF8C-379B4E1F7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02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7DE4FF-9990-A9AC-3C2E-293199464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8EAA74-63C8-C36A-3183-E2422D21A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2B6D4-C9F6-E8F2-201F-4509BC3808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B10CC0-AF4B-E348-B54D-14F7FDD72637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BF0C8-34C5-5B56-A185-E18BC6E9E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431D-F7A2-7F03-0D80-BB27B4643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C3BAD6-2D80-6542-86EB-40A788CBA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81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2CC403-21CD-41DF-BAC4-329D7FF03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78A314-C6BC-FD9B-BF78-AC7BC5BD0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828" y="1147158"/>
            <a:ext cx="6038470" cy="4713316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Outland Adventures Database System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3AA5FE-3FFC-4725-9ADD-E428544EC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70700-3F72-44D4-8175-FEB2B9B23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093C0F6-5741-4C9D-90FF-A25824BFC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21B2E1B-E962-432C-ADA1-2934CE3C5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653717E-6F8C-43E0-9893-C03AE87D1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BB14B4-EC3F-47C7-9AF3-B0E017B75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66160" y="391886"/>
            <a:ext cx="402901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084D86-8E6D-AFB8-22A8-1E56B1FCA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0590" y="1687486"/>
            <a:ext cx="3300156" cy="3636818"/>
          </a:xfrm>
        </p:spPr>
        <p:txBody>
          <a:bodyPr anchor="ctr">
            <a:normAutofit/>
          </a:bodyPr>
          <a:lstStyle/>
          <a:p>
            <a:pPr algn="l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Milestone #4 – Final Presentation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Green Group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Alexander Baldree</a:t>
            </a:r>
            <a:endParaRPr lang="en-US" sz="20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Jordan Dardar</a:t>
            </a:r>
          </a:p>
          <a:p>
            <a:pPr algn="l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Maksymilian Jankowski</a:t>
            </a:r>
          </a:p>
          <a:p>
            <a:pPr algn="l"/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Aftabur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Rahman</a:t>
            </a:r>
          </a:p>
          <a:p>
            <a:pPr algn="l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73973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57A61E-4092-35CD-EFE1-F93EA6D13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Group Introduction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5E801-5C70-92A1-62AB-C2761023C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worked as a team to analyze the Outland Adventures case study and design a complete relational database solution. Our goal was to build a system that supports trip scheduling, customer bookings, equipment management, sales/rentals, and reporting; everything needed to help Blythe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Timmerson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Jim Ford make better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1830914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ssorted items on a floor">
            <a:extLst>
              <a:ext uri="{FF2B5EF4-FFF2-40B4-BE49-F238E27FC236}">
                <a16:creationId xmlns:a16="http://schemas.microsoft.com/office/drawing/2014/main" id="{BF689801-2708-F55A-C538-7AA4E9BD0CB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4768" b="10963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E9C836-C861-0D65-C85F-47D68890D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546F5-F2F1-EF2B-398A-5A6365DCF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Outland Adventures is a growing travel-adventure business that provides guided hiking, camping, and international trekking trips.</a:t>
            </a:r>
          </a:p>
          <a:p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Employs guides, marketing, inventory staff, and a web developer</a:t>
            </a:r>
          </a:p>
          <a:p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 trips in Africa, Asia, and Southern Europe</a:t>
            </a:r>
          </a:p>
          <a:p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Let's customers book trips and rent or buy equipment</a:t>
            </a:r>
          </a:p>
          <a:p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Wants to optimize operations by analyzing booking trends and inventory age</a:t>
            </a: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Needs help answering key business questions:</a:t>
            </a:r>
          </a:p>
          <a:p>
            <a:pPr lvl="1"/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equipment sales profitable?</a:t>
            </a:r>
          </a:p>
          <a:p>
            <a:pPr lvl="1"/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any region’s booking demand trending downward?</a:t>
            </a:r>
          </a:p>
          <a:p>
            <a:pPr lvl="1"/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inventory items older than 5 years?</a:t>
            </a:r>
          </a:p>
          <a:p>
            <a:pPr lvl="1"/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trip assignments distributed evenly between guides?</a:t>
            </a:r>
          </a:p>
          <a:p>
            <a:pPr lvl="1"/>
            <a:r>
              <a:rPr lang="en-US" sz="1700">
                <a:solidFill>
                  <a:srgbClr val="FFFFFF"/>
                </a:solidFill>
              </a:rPr>
              <a:t>Which equipment items are generating the most order activity (sales + rentals)?</a:t>
            </a:r>
          </a:p>
          <a:p>
            <a:pPr lvl="1"/>
            <a:endParaRPr lang="en-US" sz="17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7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database is designed to help answer all these questions.</a:t>
            </a:r>
          </a:p>
          <a:p>
            <a:endParaRPr lang="en-US" sz="170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960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A32CE1-C162-C4D4-C05A-E5FC18C29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4B0C2-F118-C8C8-F85F-FE3F2035A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Our ERD and database were designed around these goals:</a:t>
            </a:r>
          </a:p>
          <a:p>
            <a:r>
              <a:rPr lang="en-US" sz="1700" dirty="0"/>
              <a:t>Track employees and their roles</a:t>
            </a:r>
          </a:p>
          <a:p>
            <a:r>
              <a:rPr lang="en-US" sz="1700" dirty="0"/>
              <a:t>Record customers and their bookings</a:t>
            </a:r>
          </a:p>
          <a:p>
            <a:r>
              <a:rPr lang="en-US" sz="1700" dirty="0"/>
              <a:t>Manage equipment, including age and condition</a:t>
            </a:r>
          </a:p>
          <a:p>
            <a:r>
              <a:rPr lang="en-US" sz="1700" dirty="0"/>
              <a:t>Record both sales and rentals</a:t>
            </a:r>
          </a:p>
          <a:p>
            <a:r>
              <a:rPr lang="en-US" sz="1700" dirty="0"/>
              <a:t>Identify regional trends in trip bookings</a:t>
            </a:r>
          </a:p>
          <a:p>
            <a:r>
              <a:rPr lang="en-US" sz="1700" dirty="0"/>
              <a:t>Support reporting and future expansion</a:t>
            </a:r>
          </a:p>
          <a:p>
            <a:r>
              <a:rPr lang="en-US" sz="1700" dirty="0"/>
              <a:t>Keep the structure normalized, clean, and scalable</a:t>
            </a:r>
          </a:p>
          <a:p>
            <a:endParaRPr lang="en-US" sz="1700" dirty="0"/>
          </a:p>
        </p:txBody>
      </p:sp>
      <p:pic>
        <p:nvPicPr>
          <p:cNvPr id="6" name="Picture 5" descr="Top view of cubes connected with black lines">
            <a:extLst>
              <a:ext uri="{FF2B5EF4-FFF2-40B4-BE49-F238E27FC236}">
                <a16:creationId xmlns:a16="http://schemas.microsoft.com/office/drawing/2014/main" id="{A30AF94A-695F-4D0E-9DAF-1D58FAB4EE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90" r="11668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F03DDE-F299-59DD-E54D-F568B89E3643}"/>
              </a:ext>
            </a:extLst>
          </p:cNvPr>
          <p:cNvSpPr txBox="1"/>
          <p:nvPr/>
        </p:nvSpPr>
        <p:spPr>
          <a:xfrm>
            <a:off x="10580914" y="40969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96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A0253-7756-11DD-340F-883A355A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 (Entity-Relationship Diagram)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020DD-E113-EE7B-25D3-C3218AB67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16927" cy="4351338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Entities Included:</a:t>
            </a:r>
            <a:endParaRPr lang="en-US" dirty="0"/>
          </a:p>
          <a:p>
            <a:r>
              <a:rPr lang="en-US" dirty="0"/>
              <a:t>Employee</a:t>
            </a:r>
          </a:p>
          <a:p>
            <a:r>
              <a:rPr lang="en-US" dirty="0"/>
              <a:t>Region</a:t>
            </a:r>
          </a:p>
          <a:p>
            <a:r>
              <a:rPr lang="en-US" dirty="0"/>
              <a:t>Trip</a:t>
            </a:r>
          </a:p>
          <a:p>
            <a:r>
              <a:rPr lang="en-US" dirty="0"/>
              <a:t>Customer</a:t>
            </a:r>
          </a:p>
          <a:p>
            <a:r>
              <a:rPr lang="en-US" dirty="0"/>
              <a:t>Booking</a:t>
            </a:r>
          </a:p>
          <a:p>
            <a:r>
              <a:rPr lang="en-US" dirty="0"/>
              <a:t>Equipment</a:t>
            </a:r>
          </a:p>
          <a:p>
            <a:r>
              <a:rPr lang="en-US" dirty="0"/>
              <a:t>Equipment_Order</a:t>
            </a:r>
          </a:p>
          <a:p>
            <a:r>
              <a:rPr lang="en-US" dirty="0"/>
              <a:t>Order_Line</a:t>
            </a:r>
          </a:p>
          <a:p>
            <a:r>
              <a:rPr lang="en-US" b="1" dirty="0"/>
              <a:t>Key Relationships:</a:t>
            </a:r>
            <a:endParaRPr lang="en-US" dirty="0"/>
          </a:p>
          <a:p>
            <a:r>
              <a:rPr lang="en-US" dirty="0"/>
              <a:t>Employees guide trips and manage equipment</a:t>
            </a:r>
          </a:p>
          <a:p>
            <a:r>
              <a:rPr lang="en-US" dirty="0"/>
              <a:t>Customers book trips and place orders</a:t>
            </a:r>
          </a:p>
          <a:p>
            <a:r>
              <a:rPr lang="en-US" dirty="0"/>
              <a:t>Regions contain multiple trips</a:t>
            </a:r>
          </a:p>
          <a:p>
            <a:r>
              <a:rPr lang="en-US" dirty="0"/>
              <a:t>Orders contain multiple line items</a:t>
            </a:r>
          </a:p>
          <a:p>
            <a:endParaRPr lang="en-US" dirty="0"/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C66C1911-D5E3-23E8-C70B-84D9AA2DE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2256" y="1383724"/>
            <a:ext cx="6310916" cy="479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331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B203E4-A400-BE3B-EE5C-37491D9E0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 We Made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A1FC7-50C2-86F2-0125-16EA05EFA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1900"/>
              <a:t>Each employee has </a:t>
            </a:r>
            <a:r>
              <a:rPr lang="en-US" sz="1900" b="1"/>
              <a:t>one primary role</a:t>
            </a:r>
            <a:r>
              <a:rPr lang="en-US" sz="1900"/>
              <a:t>.</a:t>
            </a:r>
          </a:p>
          <a:p>
            <a:r>
              <a:rPr lang="en-US" sz="1900"/>
              <a:t>Each trip has </a:t>
            </a:r>
            <a:r>
              <a:rPr lang="en-US" sz="1900" b="1"/>
              <a:t>one assigned guide</a:t>
            </a:r>
            <a:r>
              <a:rPr lang="en-US" sz="1900"/>
              <a:t>.</a:t>
            </a:r>
          </a:p>
          <a:p>
            <a:r>
              <a:rPr lang="en-US" sz="1900"/>
              <a:t>Equipment can be rented or sold, but not at once.</a:t>
            </a:r>
          </a:p>
          <a:p>
            <a:r>
              <a:rPr lang="en-US" sz="1900"/>
              <a:t>Inventory age is determined by </a:t>
            </a:r>
            <a:r>
              <a:rPr lang="en-US" sz="1900" b="1"/>
              <a:t>acquired_date</a:t>
            </a:r>
            <a:r>
              <a:rPr lang="en-US" sz="1900"/>
              <a:t>.</a:t>
            </a:r>
          </a:p>
          <a:p>
            <a:r>
              <a:rPr lang="en-US" sz="1900"/>
              <a:t>A customer can book </a:t>
            </a:r>
            <a:r>
              <a:rPr lang="en-US" sz="1900" b="1"/>
              <a:t>multiple trips</a:t>
            </a:r>
            <a:r>
              <a:rPr lang="en-US" sz="1900"/>
              <a:t>.</a:t>
            </a:r>
          </a:p>
          <a:p>
            <a:r>
              <a:rPr lang="en-US" sz="1900"/>
              <a:t>Sales and rentals are stored in the same order table, using order_type.</a:t>
            </a:r>
          </a:p>
          <a:p>
            <a:r>
              <a:rPr lang="en-US" sz="1900"/>
              <a:t>Regions remain fixed (Africa, Asia, Southern Europe), but more can be added.</a:t>
            </a:r>
            <a:br>
              <a:rPr lang="en-US" sz="1900"/>
            </a:br>
            <a:endParaRPr lang="en-US" sz="1900"/>
          </a:p>
        </p:txBody>
      </p:sp>
      <p:pic>
        <p:nvPicPr>
          <p:cNvPr id="5" name="Picture 4" descr="Paper files on the table">
            <a:extLst>
              <a:ext uri="{FF2B5EF4-FFF2-40B4-BE49-F238E27FC236}">
                <a16:creationId xmlns:a16="http://schemas.microsoft.com/office/drawing/2014/main" id="{80F063CE-56C5-B785-F4CD-FF793A338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242" r="23727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4954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AF095B-AD4D-305C-EF64-2C9580F94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1: Equipment Older Than 5 Years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B3DD1-3F50-E4B8-D4CB-35C1AC651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r>
              <a:rPr lang="en-US" sz="1800" b="1" dirty="0">
                <a:solidFill>
                  <a:schemeClr val="tx2"/>
                </a:solidFill>
              </a:rPr>
              <a:t>Purpose:</a:t>
            </a:r>
            <a:r>
              <a:rPr lang="en-US" sz="1800" dirty="0">
                <a:solidFill>
                  <a:schemeClr val="tx2"/>
                </a:solidFill>
              </a:rPr>
              <a:t> Identify aging inventory to support replacement decisions and reduce safety risks.</a:t>
            </a:r>
          </a:p>
          <a:p>
            <a:r>
              <a:rPr lang="en-US" sz="1800" b="1" dirty="0">
                <a:solidFill>
                  <a:schemeClr val="tx2"/>
                </a:solidFill>
              </a:rPr>
              <a:t>Business Question Answered:</a:t>
            </a:r>
            <a:br>
              <a:rPr lang="en-US" sz="1800" dirty="0">
                <a:solidFill>
                  <a:schemeClr val="tx2"/>
                </a:solidFill>
              </a:rPr>
            </a:br>
            <a:r>
              <a:rPr lang="en-US" sz="1800" i="1" dirty="0">
                <a:solidFill>
                  <a:schemeClr val="tx2"/>
                </a:solidFill>
              </a:rPr>
              <a:t>Are there inventory items that are over five years old?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b="1" dirty="0">
                <a:solidFill>
                  <a:schemeClr val="tx2"/>
                </a:solidFill>
              </a:rPr>
              <a:t>Query Result:</a:t>
            </a:r>
          </a:p>
          <a:p>
            <a:pPr marL="0" indent="0">
              <a:buNone/>
            </a:pPr>
            <a:br>
              <a:rPr lang="en-US" sz="1800" dirty="0">
                <a:solidFill>
                  <a:schemeClr val="tx2"/>
                </a:solidFill>
              </a:rPr>
            </a:br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24E1A29E-5898-63C8-3DA7-9450431C0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8" y="3882782"/>
            <a:ext cx="4954693" cy="112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173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791389-37FC-636C-8584-2E65EA7E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2: Booking Trends by Region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2B7C8-4A2C-8AD4-C471-4E66921B1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Purpose:</a:t>
            </a:r>
            <a:r>
              <a:rPr lang="en-US" sz="1800">
                <a:solidFill>
                  <a:schemeClr val="tx2"/>
                </a:solidFill>
              </a:rPr>
              <a:t> Help determine whether Africa, Asia, or Southern Europe is trending downward.</a:t>
            </a:r>
          </a:p>
          <a:p>
            <a:r>
              <a:rPr lang="en-US" sz="1800" b="1">
                <a:solidFill>
                  <a:schemeClr val="tx2"/>
                </a:solidFill>
              </a:rPr>
              <a:t>Business Question Answered:</a:t>
            </a:r>
            <a:br>
              <a:rPr lang="en-US" sz="1800">
                <a:solidFill>
                  <a:schemeClr val="tx2"/>
                </a:solidFill>
              </a:rPr>
            </a:br>
            <a:r>
              <a:rPr lang="en-US" sz="1800" i="1">
                <a:solidFill>
                  <a:schemeClr val="tx2"/>
                </a:solidFill>
              </a:rPr>
              <a:t>Is any geographic region losing customer interest?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</a:rPr>
              <a:t>Query Result:</a:t>
            </a: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12861175-6058-4B46-5902-C935003B9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8" y="3498794"/>
            <a:ext cx="4954693" cy="189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691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866BD-B33E-70A0-CACE-BC457E88A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3: Sales vs Rental Revenue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DD428-B708-4E9B-37E9-F5C81CA57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r>
              <a:rPr lang="en-US" sz="1800" b="1">
                <a:solidFill>
                  <a:schemeClr val="tx2"/>
                </a:solidFill>
              </a:rPr>
              <a:t>Purpose:</a:t>
            </a:r>
            <a:r>
              <a:rPr lang="en-US" sz="1800">
                <a:solidFill>
                  <a:schemeClr val="tx2"/>
                </a:solidFill>
              </a:rPr>
              <a:t> Evaluate whether equipment sales are worth keeping in the business model.</a:t>
            </a:r>
          </a:p>
          <a:p>
            <a:r>
              <a:rPr lang="en-US" sz="1800" b="1">
                <a:solidFill>
                  <a:schemeClr val="tx2"/>
                </a:solidFill>
              </a:rPr>
              <a:t>Business Question Answered:</a:t>
            </a:r>
            <a:br>
              <a:rPr lang="en-US" sz="1800">
                <a:solidFill>
                  <a:schemeClr val="tx2"/>
                </a:solidFill>
              </a:rPr>
            </a:br>
            <a:r>
              <a:rPr lang="en-US" sz="1800" i="1">
                <a:solidFill>
                  <a:schemeClr val="tx2"/>
                </a:solidFill>
              </a:rPr>
              <a:t>Do enough customers buy equipment to justify selling it?</a:t>
            </a:r>
            <a:endParaRPr lang="en-US" sz="1800">
              <a:solidFill>
                <a:schemeClr val="tx2"/>
              </a:solidFill>
            </a:endParaRPr>
          </a:p>
          <a:p>
            <a:r>
              <a:rPr lang="en-US" sz="1800" b="1">
                <a:solidFill>
                  <a:schemeClr val="tx2"/>
                </a:solidFill>
              </a:rPr>
              <a:t>Query Result:</a:t>
            </a: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6A83072D-9627-54E8-CBEC-A0449824A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8" y="3858009"/>
            <a:ext cx="4954693" cy="117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15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9AC5FE-97ED-9D34-A76D-538A7A6FA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4: Guide Assignment Report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757B3-6C03-3513-26AB-60D31C096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Report</a:t>
            </a:r>
          </a:p>
          <a:p>
            <a:r>
              <a:rPr lang="en-US" sz="1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Outland Adventures employs professional guides who lead international treks. Blythe and Jim want to make sure trip assignments are fair and evenly distributed.</a:t>
            </a:r>
          </a:p>
          <a:p>
            <a:r>
              <a:rPr lang="en-US" sz="1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Whether workload is balanced</a:t>
            </a:r>
          </a:p>
          <a:p>
            <a:r>
              <a:rPr lang="en-US" sz="1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Whether a guide is overloaded</a:t>
            </a:r>
          </a:p>
          <a:p>
            <a:r>
              <a:rPr lang="en-US" sz="17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Whether they need to hire additional guides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Question Answered</a:t>
            </a:r>
          </a:p>
          <a:p>
            <a:r>
              <a:rPr lang="en-US" sz="17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trip assignments distributed evenly between guides?</a:t>
            </a:r>
            <a:endParaRPr lang="en-US" sz="17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700" dirty="0">
              <a:solidFill>
                <a:schemeClr val="tx2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B6AA4CE7-53AB-0B7F-23C7-375E2E477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8" y="3820849"/>
            <a:ext cx="4954693" cy="125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417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ABB062-A6EB-126E-99B9-039483143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Report 5: 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C8C77-6A38-A1FC-FDFC-F52F6F59F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Purpose of the Report</a:t>
            </a:r>
          </a:p>
          <a:p>
            <a:r>
              <a:rPr lang="en-US" sz="1400" dirty="0">
                <a:solidFill>
                  <a:schemeClr val="tx2"/>
                </a:solidFill>
              </a:rPr>
              <a:t>Outland Adventures makes money from both sales and rentals of hiking/camping equipment.</a:t>
            </a:r>
          </a:p>
          <a:p>
            <a:r>
              <a:rPr lang="en-US" sz="1400" dirty="0">
                <a:solidFill>
                  <a:schemeClr val="tx2"/>
                </a:solidFill>
              </a:rPr>
              <a:t>Which items are ordered most often</a:t>
            </a:r>
          </a:p>
          <a:p>
            <a:r>
              <a:rPr lang="en-US" sz="1400" dirty="0">
                <a:solidFill>
                  <a:schemeClr val="tx2"/>
                </a:solidFill>
              </a:rPr>
              <a:t>Whether rentals or sales generate more activity</a:t>
            </a:r>
          </a:p>
          <a:p>
            <a:r>
              <a:rPr lang="en-US" sz="1400" dirty="0">
                <a:solidFill>
                  <a:schemeClr val="tx2"/>
                </a:solidFill>
              </a:rPr>
              <a:t>Which inventory items customers prefer</a:t>
            </a:r>
          </a:p>
          <a:p>
            <a:r>
              <a:rPr lang="en-US" sz="1400" dirty="0">
                <a:solidFill>
                  <a:schemeClr val="tx2"/>
                </a:solidFill>
              </a:rPr>
              <a:t>This helps decide whether to stock more of certain items or discontinue products that rarely move.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Business Question Answered</a:t>
            </a:r>
          </a:p>
          <a:p>
            <a:r>
              <a:rPr lang="en-US" sz="1400" i="1" dirty="0">
                <a:solidFill>
                  <a:schemeClr val="tx2"/>
                </a:solidFill>
              </a:rPr>
              <a:t>Which equipment items are generating the most order activity (sales + rentals)?</a:t>
            </a:r>
            <a:endParaRPr lang="en-US" sz="1400" dirty="0">
              <a:solidFill>
                <a:schemeClr val="tx2"/>
              </a:solidFill>
            </a:endParaRPr>
          </a:p>
          <a:p>
            <a:endParaRPr lang="en-US" sz="14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F92D7100-E069-36DE-9959-E80F3DA32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8" y="3771301"/>
            <a:ext cx="4954693" cy="135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033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3DFB14-A4F7-31CA-FA1D-1AC345E86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These Reports Help the Owners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1587D-1AA1-963C-0753-DA0A6A29E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system allows Blythe and Jim to: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Clearly see which regions require more marketing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 aging equipment proactively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rental vs sales profitability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experience through better planning</a:t>
            </a:r>
          </a:p>
          <a:p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long-term strategic decisions using real data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Upward trend">
            <a:extLst>
              <a:ext uri="{FF2B5EF4-FFF2-40B4-BE49-F238E27FC236}">
                <a16:creationId xmlns:a16="http://schemas.microsoft.com/office/drawing/2014/main" id="{F35E7B22-F7EA-229B-D2DC-C0B137809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041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E8D136-81DF-B9E3-A49A-6F27E4265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D6FD9-9448-DAFD-8B91-0952C60EF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Our database solution provides Outland Adventures with: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complete, normalized data model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bookings, equipment, employees, and orders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reporting for business decisions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 to expand into ecommerce and more regions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believe this system gives the business exactly what it needs to grow efficiently.</a:t>
            </a:r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53EF28F5-E08F-1B4C-E16B-5CD8CCDC07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25" r="12675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503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7B0DA-E2DD-B0A6-E95B-B409FEE33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C5F56-620D-696C-D713-96EB2B5F2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chemeClr val="tx2"/>
                </a:solidFill>
              </a:rPr>
              <a:t>Questions?</a:t>
            </a:r>
            <a:br>
              <a:rPr lang="en-US" sz="1800">
                <a:solidFill>
                  <a:schemeClr val="tx2"/>
                </a:solidFill>
              </a:rPr>
            </a:b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Green Group</a:t>
            </a: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Alexander Baldree</a:t>
            </a: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</a:rPr>
              <a:t>Jordan Dardar</a:t>
            </a: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Maksymilian Jankowski</a:t>
            </a:r>
          </a:p>
          <a:p>
            <a:pPr marL="0" indent="0">
              <a:buNone/>
            </a:pPr>
            <a:r>
              <a:rPr lang="en-US" sz="18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Aftabur Rahman</a:t>
            </a: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483CA025-2530-4B17-666E-12A088C92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305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756</Words>
  <Application>Microsoft Macintosh PowerPoint</Application>
  <PresentationFormat>Widescreen</PresentationFormat>
  <Paragraphs>108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Times New Roman</vt:lpstr>
      <vt:lpstr>Office Theme</vt:lpstr>
      <vt:lpstr>Outland Adventures Database System</vt:lpstr>
      <vt:lpstr>Group Introduction</vt:lpstr>
      <vt:lpstr>Case Study Overview</vt:lpstr>
      <vt:lpstr>Design Goals</vt:lpstr>
      <vt:lpstr>ERD (Entity-Relationship Diagram)</vt:lpstr>
      <vt:lpstr>Assumptions We Made</vt:lpstr>
      <vt:lpstr>Report 1: Equipment Older Than 5 Years</vt:lpstr>
      <vt:lpstr>Report 2: Booking Trends by Region</vt:lpstr>
      <vt:lpstr>Report 3: Sales vs Rental Revenue</vt:lpstr>
      <vt:lpstr>Report 4: Guide Assignment Report</vt:lpstr>
      <vt:lpstr>Report 5: </vt:lpstr>
      <vt:lpstr>How These Reports Help the Owners</vt:lpstr>
      <vt:lpstr>Project 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Baldree</dc:creator>
  <cp:lastModifiedBy>Alexander Baldree</cp:lastModifiedBy>
  <cp:revision>5</cp:revision>
  <dcterms:created xsi:type="dcterms:W3CDTF">2025-12-11T04:17:20Z</dcterms:created>
  <dcterms:modified xsi:type="dcterms:W3CDTF">2025-12-11T04:56:32Z</dcterms:modified>
</cp:coreProperties>
</file>